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5"/>
    <p:sldMasterId id="214748369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y="5143500" cx="9144000"/>
  <p:notesSz cx="6858000" cy="9144000"/>
  <p:embeddedFontLst>
    <p:embeddedFont>
      <p:font typeface="DM Sans Medium"/>
      <p:regular r:id="rId62"/>
      <p:bold r:id="rId63"/>
      <p:italic r:id="rId64"/>
      <p:boldItalic r:id="rId65"/>
    </p:embeddedFont>
    <p:embeddedFont>
      <p:font typeface="Caveat"/>
      <p:regular r:id="rId66"/>
      <p:bold r:id="rId67"/>
    </p:embeddedFont>
    <p:embeddedFont>
      <p:font typeface="Montserrat"/>
      <p:regular r:id="rId68"/>
      <p:bold r:id="rId69"/>
      <p:italic r:id="rId70"/>
      <p:boldItalic r:id="rId71"/>
    </p:embeddedFont>
    <p:embeddedFont>
      <p:font typeface="Merriweather"/>
      <p:regular r:id="rId72"/>
      <p:bold r:id="rId73"/>
      <p:italic r:id="rId74"/>
      <p:boldItalic r:id="rId75"/>
    </p:embeddedFont>
    <p:embeddedFont>
      <p:font typeface="DM Sans"/>
      <p:regular r:id="rId76"/>
      <p:bold r:id="rId77"/>
      <p:italic r:id="rId78"/>
      <p:boldItalic r:id="rId79"/>
    </p:embeddedFont>
    <p:embeddedFont>
      <p:font typeface="Open Sans Light"/>
      <p:regular r:id="rId80"/>
      <p:bold r:id="rId81"/>
      <p:italic r:id="rId82"/>
      <p:boldItalic r:id="rId83"/>
    </p:embeddedFont>
    <p:embeddedFont>
      <p:font typeface="Open Sans"/>
      <p:regular r:id="rId84"/>
      <p:bold r:id="rId85"/>
      <p:italic r:id="rId86"/>
      <p:boldItalic r:id="rId8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6254DA-1F19-4DD0-A054-47F38758530C}">
  <a:tblStyle styleId="{1E6254DA-1F19-4DD0-A054-47F3875853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OpenSans-regular.fntdata"/><Relationship Id="rId83" Type="http://schemas.openxmlformats.org/officeDocument/2006/relationships/font" Target="fonts/OpenSansLight-boldItalic.fntdata"/><Relationship Id="rId42" Type="http://schemas.openxmlformats.org/officeDocument/2006/relationships/slide" Target="slides/slide35.xml"/><Relationship Id="rId86" Type="http://schemas.openxmlformats.org/officeDocument/2006/relationships/font" Target="fonts/OpenSans-italic.fntdata"/><Relationship Id="rId41" Type="http://schemas.openxmlformats.org/officeDocument/2006/relationships/slide" Target="slides/slide34.xml"/><Relationship Id="rId85" Type="http://schemas.openxmlformats.org/officeDocument/2006/relationships/font" Target="fonts/OpenSans-bold.fntdata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87" Type="http://schemas.openxmlformats.org/officeDocument/2006/relationships/font" Target="fonts/OpenSans-boldItalic.fntdata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OpenSansLight-regular.fntdata"/><Relationship Id="rId82" Type="http://schemas.openxmlformats.org/officeDocument/2006/relationships/font" Target="fonts/OpenSansLight-italic.fntdata"/><Relationship Id="rId81" Type="http://schemas.openxmlformats.org/officeDocument/2006/relationships/font" Target="fonts/OpenSans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font" Target="fonts/Merriweather-bold.fntdata"/><Relationship Id="rId72" Type="http://schemas.openxmlformats.org/officeDocument/2006/relationships/font" Target="fonts/Merriweather-regular.fntdata"/><Relationship Id="rId31" Type="http://schemas.openxmlformats.org/officeDocument/2006/relationships/slide" Target="slides/slide24.xml"/><Relationship Id="rId75" Type="http://schemas.openxmlformats.org/officeDocument/2006/relationships/font" Target="fonts/Merriweather-boldItalic.fntdata"/><Relationship Id="rId30" Type="http://schemas.openxmlformats.org/officeDocument/2006/relationships/slide" Target="slides/slide23.xml"/><Relationship Id="rId74" Type="http://schemas.openxmlformats.org/officeDocument/2006/relationships/font" Target="fonts/Merriweather-italic.fntdata"/><Relationship Id="rId33" Type="http://schemas.openxmlformats.org/officeDocument/2006/relationships/slide" Target="slides/slide26.xml"/><Relationship Id="rId77" Type="http://schemas.openxmlformats.org/officeDocument/2006/relationships/font" Target="fonts/DMSans-bold.fntdata"/><Relationship Id="rId32" Type="http://schemas.openxmlformats.org/officeDocument/2006/relationships/slide" Target="slides/slide25.xml"/><Relationship Id="rId76" Type="http://schemas.openxmlformats.org/officeDocument/2006/relationships/font" Target="fonts/DMSans-regular.fntdata"/><Relationship Id="rId35" Type="http://schemas.openxmlformats.org/officeDocument/2006/relationships/slide" Target="slides/slide28.xml"/><Relationship Id="rId79" Type="http://schemas.openxmlformats.org/officeDocument/2006/relationships/font" Target="fonts/DMSans-boldItalic.fntdata"/><Relationship Id="rId34" Type="http://schemas.openxmlformats.org/officeDocument/2006/relationships/slide" Target="slides/slide27.xml"/><Relationship Id="rId78" Type="http://schemas.openxmlformats.org/officeDocument/2006/relationships/font" Target="fonts/DMSans-italic.fntdata"/><Relationship Id="rId71" Type="http://schemas.openxmlformats.org/officeDocument/2006/relationships/font" Target="fonts/Montserrat-boldItalic.fntdata"/><Relationship Id="rId70" Type="http://schemas.openxmlformats.org/officeDocument/2006/relationships/font" Target="fonts/Montserrat-italic.fntdata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DMSansMedium-regular.fntdata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font" Target="fonts/DMSansMedium-italic.fntdata"/><Relationship Id="rId63" Type="http://schemas.openxmlformats.org/officeDocument/2006/relationships/font" Target="fonts/DMSansMedium-bold.fntdata"/><Relationship Id="rId22" Type="http://schemas.openxmlformats.org/officeDocument/2006/relationships/slide" Target="slides/slide15.xml"/><Relationship Id="rId66" Type="http://schemas.openxmlformats.org/officeDocument/2006/relationships/font" Target="fonts/Caveat-regular.fntdata"/><Relationship Id="rId21" Type="http://schemas.openxmlformats.org/officeDocument/2006/relationships/slide" Target="slides/slide14.xml"/><Relationship Id="rId65" Type="http://schemas.openxmlformats.org/officeDocument/2006/relationships/font" Target="fonts/DMSansMedium-boldItalic.fntdata"/><Relationship Id="rId24" Type="http://schemas.openxmlformats.org/officeDocument/2006/relationships/slide" Target="slides/slide17.xml"/><Relationship Id="rId68" Type="http://schemas.openxmlformats.org/officeDocument/2006/relationships/font" Target="fonts/Montserrat-regular.fntdata"/><Relationship Id="rId23" Type="http://schemas.openxmlformats.org/officeDocument/2006/relationships/slide" Target="slides/slide16.xml"/><Relationship Id="rId67" Type="http://schemas.openxmlformats.org/officeDocument/2006/relationships/font" Target="fonts/Caveat-bold.fntdata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font" Target="fonts/Montserrat-bold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9df229e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9df229ec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b6030229e_0_9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bb6030229e_0_9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9372e8210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9372e8210b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372e821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9372e821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372e8210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372e8210b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372e8210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9372e8210b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372e8210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9372e8210b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9372e821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9372e8210b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372e8210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g39372e8210b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372e8210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9372e8210b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372e8210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39372e8210b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372e821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39372e8210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372e821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g39372e8210b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372e8210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9372e8210b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372e8210b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9372e8210b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372e8210b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9372e8210b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372e8210b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9372e8210b_0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372e8210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9372e8210b_0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9372e8210b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9372e8210b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9372e8210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9372e8210b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9372e8210b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9372e8210b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9372e8210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9372e8210b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372e8210b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9372e8210b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9372e8210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g39372e8210b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9372e8210b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g39372e8210b_0_2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372e8210b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9372e8210b_0_1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9372e8210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g39372e8210b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9372e8210b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9372e8210b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9372e8210b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g39372e8210b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3755624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3937556247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9375562479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g39375562479_0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9375c989d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9375c989d4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375c989d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g39375c989d4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375c989d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9375c989d4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d2b60ea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3bd2b60ea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375c989d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g39375c989d4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bd2b60ea0a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g3bd2b60ea0a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bd2b60ea0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g3bd2b60ea0a_0_2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bd2b60ea0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bd2b60ea0a_0_2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375c989d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9375c989d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bd2b60ea0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bd2b60ea0a_0_2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bd2b60ea0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g3bd2b60ea0a_0_2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bd2b60ea0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bd2b60ea0a_0_2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9375c989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g39375c989d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bd2b60ea0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g3bd2b60ea0a_0_3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bd2b60ea0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g3bd2b60ea0a_0_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bd2b60ea0a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g3bd2b60ea0a_0_3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d2b60ea0a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bd2b60ea0a_0_3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bd2b60ea0a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3bd2b60ea0a_0_3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3bd2b60ea0a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bd2b60ea0a_0_3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bd2b60ea0a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g3bd2b60ea0a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bd2b60ea0a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g3bd2b60ea0a_0_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c1fb755c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c1fb755c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github.com/AlaTooMirlanNurbekov/A006_Algorithmization_and_Programming/blob/main/0002_codes/T006.java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180225"/>
            <a:ext cx="8575200" cy="14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ALGORITHMIZATION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AND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PROGRAMMING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rgbClr val="0075E8"/>
                </a:solidFill>
                <a:latin typeface="Verdana"/>
                <a:ea typeface="Verdana"/>
                <a:cs typeface="Verdana"/>
                <a:sym typeface="Verdana"/>
              </a:rPr>
              <a:t>PART II</a:t>
            </a:r>
            <a:endParaRPr sz="3900">
              <a:solidFill>
                <a:srgbClr val="0075E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 flipH="1" rot="10800000">
            <a:off x="3194400" y="4352257"/>
            <a:ext cx="2755200" cy="2400"/>
          </a:xfrm>
          <a:prstGeom prst="straightConnector1">
            <a:avLst/>
          </a:prstGeom>
          <a:noFill/>
          <a:ln cap="flat" cmpd="sng" w="38100">
            <a:solidFill>
              <a:srgbClr val="0077E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05150" y="4614766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Semester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388950" y="1915650"/>
            <a:ext cx="83661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Premature optimization is the root of all evil.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457200" lvl="0" marL="36576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     		— Donald Knuth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88950" y="106710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8525" y="279475"/>
            <a:ext cx="9095400" cy="22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TWO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ALGORITHMS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</a:rPr>
              <a:t>REDUCING SEARCH THROUGH STRUCTURE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24300" y="2275225"/>
            <a:ext cx="90954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Algorithms that exploit known properties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Avoid unnecessary computation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 of scalable systems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7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WORLD TWO MATTERS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BRUTE FORCE FAILS AT SCALE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6" name="Google Shape;286;p4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7" name="Google Shape;287;p47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Exponential growth is unsustainable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Real systems handle millions of inputs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Optimization becomes a necessity, not a choice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PRINCIPLE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PROBLEM KNOWLEDGE TO LIMIT WORK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3" name="Google Shape;293;p4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4" name="Google Shape;294;p48"/>
          <p:cNvSpPr txBox="1"/>
          <p:nvPr/>
        </p:nvSpPr>
        <p:spPr>
          <a:xfrm>
            <a:off x="-108725" y="1450475"/>
            <a:ext cx="9095400" cy="27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World Two algorithms:</a:t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Make assumptions</a:t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	Use guarantees</a:t>
            </a:r>
            <a:endParaRPr sz="19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</a:endParaRPr>
          </a:p>
          <a:p>
            <a:pPr indent="457200" lvl="0" marL="3200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Trade generality for efficiency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9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COUNTS AS STRUCTURE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 WE CAN RELY 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0" name="Google Shape;300;p49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49"/>
          <p:cNvSpPr txBox="1"/>
          <p:nvPr/>
        </p:nvSpPr>
        <p:spPr>
          <a:xfrm>
            <a:off x="48600" y="1113500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Sorted order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Balanced hierarchy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Fixed constraints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Mathematical properties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Indexed access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0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ONE VS WORLD TWO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ALGORITHMIC MATURITY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7" name="Google Shape;307;p50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50"/>
          <p:cNvSpPr txBox="1"/>
          <p:nvPr/>
        </p:nvSpPr>
        <p:spPr>
          <a:xfrm>
            <a:off x="24300" y="2009175"/>
            <a:ext cx="9095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graphicFrame>
        <p:nvGraphicFramePr>
          <p:cNvPr id="309" name="Google Shape;309;p50"/>
          <p:cNvGraphicFramePr/>
          <p:nvPr/>
        </p:nvGraphicFramePr>
        <p:xfrm>
          <a:off x="801750" y="13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{1E6254DA-1F19-4DD0-A054-47F38758530C}</a:tableStyleId>
              </a:tblPr>
              <a:tblGrid>
                <a:gridCol w="2543075"/>
                <a:gridCol w="2543075"/>
                <a:gridCol w="2543075"/>
              </a:tblGrid>
              <a:tr h="551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FF00"/>
                          </a:solidFill>
                        </a:rPr>
                        <a:t>Aspect</a:t>
                      </a:r>
                      <a:endParaRPr b="1" sz="2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0000"/>
                          </a:solidFill>
                        </a:rPr>
                        <a:t>World One	</a:t>
                      </a:r>
                      <a:endParaRPr b="1" sz="21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00FF00"/>
                          </a:solidFill>
                        </a:rPr>
                        <a:t>World Two</a:t>
                      </a:r>
                      <a:endParaRPr b="1" sz="2100">
                        <a:solidFill>
                          <a:srgbClr val="00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FF00"/>
                          </a:solidFill>
                        </a:rPr>
                        <a:t>Approach	</a:t>
                      </a:r>
                      <a:endParaRPr b="1" sz="2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Exhaustive	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Selective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FF00"/>
                          </a:solidFill>
                        </a:rPr>
                        <a:t>Assumptions</a:t>
                      </a:r>
                      <a:endParaRPr b="1" sz="2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None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Explicit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FF00"/>
                          </a:solidFill>
                        </a:rPr>
                        <a:t>Scalability</a:t>
                      </a:r>
                      <a:endParaRPr b="1" sz="2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Poor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Controlled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1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100">
                          <a:solidFill>
                            <a:srgbClr val="FFFF00"/>
                          </a:solidFill>
                        </a:rPr>
                        <a:t>Usage</a:t>
                      </a:r>
                      <a:endParaRPr b="1" sz="2100">
                        <a:solidFill>
                          <a:srgbClr val="FFFF00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Small problems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rgbClr val="FFFFFF"/>
                          </a:solidFill>
                        </a:rPr>
                        <a:t>Real systems</a:t>
                      </a:r>
                      <a:endParaRPr sz="21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SEARCH AS A CASE STUDY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SAME TASK, DIFFERENT THINKING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5" name="Google Shape;315;p51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51"/>
          <p:cNvSpPr txBox="1"/>
          <p:nvPr/>
        </p:nvSpPr>
        <p:spPr>
          <a:xfrm>
            <a:off x="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Problem: Find an element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Linear search → no assumptions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Binary search → ordered data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2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BINARY SEARCH CONCEPT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LOGARITHMIC REDUCTION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2" name="Google Shape;322;p52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52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Check middle element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Eliminate half of remaining space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Repeat until resolved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3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LOGARITHMIC TIME MATTERS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GROWTH RATE COMPARISON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9" name="Google Shape;329;p53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53"/>
          <p:cNvSpPr txBox="1"/>
          <p:nvPr/>
        </p:nvSpPr>
        <p:spPr>
          <a:xfrm>
            <a:off x="48600" y="1921050"/>
            <a:ext cx="90954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Linear growth: proportional to input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Logarithmic growth: proportional to information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4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SORTING AS PREPROCESSING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INVEST TIME TO SAVE TIME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6" name="Google Shape;336;p54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7" name="Google Shape;337;p54"/>
          <p:cNvSpPr txBox="1"/>
          <p:nvPr/>
        </p:nvSpPr>
        <p:spPr>
          <a:xfrm>
            <a:off x="24300" y="1248450"/>
            <a:ext cx="90954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Used heavily in real systems</a:t>
            </a: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Sorting enables faster operations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Cost paid once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Benefit gained repeatedly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MERGE SORT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DIVISION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3" name="Google Shape;343;p5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55"/>
          <p:cNvSpPr txBox="1"/>
          <p:nvPr/>
        </p:nvSpPr>
        <p:spPr>
          <a:xfrm>
            <a:off x="24300" y="1416600"/>
            <a:ext cx="90954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Preferred in large-scale systems</a:t>
            </a: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Deterministic performance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Stable sorting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Predictable resource usage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QUICK SORT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PRACTICAL EFFICIENCY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0" name="Google Shape;350;p5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1" name="Google Shape;351;p56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Library implementations are heavily optimized variants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Average-case optimal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Cache-friendly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Dominates real-world usage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7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TREES AS ORGANIZATION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LOGARITHMIC ACCESS BY DESIGN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7" name="Google Shape;357;p5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57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Binary Search Trees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Self-balancing trees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Hierarchical control of data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TREE USAGE IN PRACTICE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SYSTEM-LEVEL DEPENDENCE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4" name="Google Shape;364;p5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58"/>
          <p:cNvSpPr txBox="1"/>
          <p:nvPr/>
        </p:nvSpPr>
        <p:spPr>
          <a:xfrm>
            <a:off x="24300" y="1248450"/>
            <a:ext cx="90954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File systems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Databases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Language parsers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Operating systems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9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HASHING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DIRECT ACCESS THROUGH DISTRIBUTION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1" name="Google Shape;371;p59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59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Key → location mapping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Near-constant time access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Sacrifices order for speed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HASHMAPS IN INDUSTRY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DEFAULT DATA STRUCTURE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8" name="Google Shape;378;p60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60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Caching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User sessions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Fast configuration lookup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1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ASSUMPTIONS ( THE HIDDEN COST 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EFFICIENCY REQUIRES DISCIPLINE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5" name="Google Shape;385;p61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61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Data must remain valid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Structure must be preserved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Violations degrade performance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2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FAILURE CASES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OPTIMIZATION BREAKS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2" name="Google Shape;392;p62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3" name="Google Shape;393;p62"/>
          <p:cNvSpPr txBox="1"/>
          <p:nvPr/>
        </p:nvSpPr>
        <p:spPr>
          <a:xfrm>
            <a:off x="24300" y="1416600"/>
            <a:ext cx="90954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Algorithms must be defended, not trusted blindly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Poor input distribution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Broken invariants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Worst-case exploitation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SECURITY CONNECTION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COMPLEXITY AS AN ATTACK VECTOR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9" name="Google Shape;399;p63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63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Hash collision attacks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Algorithmic DoS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Worst-case exploitation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4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MAGIC SQUARE (OPTIMIZED)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FROM EXHAUSTIVE TO INTELLIGENT SEARCH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6" name="Google Shape;406;p64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7" name="Google Shape;407;p64"/>
          <p:cNvSpPr txBox="1"/>
          <p:nvPr/>
        </p:nvSpPr>
        <p:spPr>
          <a:xfrm>
            <a:off x="24300" y="2425500"/>
            <a:ext cx="90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</a:rPr>
              <a:t>World Two applied to World One</a:t>
            </a:r>
            <a:endParaRPr sz="3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MAGIC SQUARE (OPTIMIZED)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FROM EXHAUSTIVE TO INTELLIGENT SEARCH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3" name="Google Shape;413;p6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65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Fix center value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Enforce sum constraints early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Prune impossible branches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PRUNING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ELIMINATE FUTILE PATHS EARLY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0" name="Google Shape;420;p6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66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Partial solutions evaluated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Immediate rejection if invalid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Exponential savings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7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DIVIDE AND CONQUER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PROBLEM DECOMPOSITION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7" name="Google Shape;427;p6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8" name="Google Shape;428;p67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Solve smaller instances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Combine results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Foundation of many algorithms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SYSTEM DESIGN CONNECTION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ALGORITHMS SHAPE ARCHITECTURE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4" name="Google Shape;434;p6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" name="Google Shape;435;p68"/>
          <p:cNvSpPr txBox="1"/>
          <p:nvPr/>
        </p:nvSpPr>
        <p:spPr>
          <a:xfrm>
            <a:off x="24300" y="1248450"/>
            <a:ext cx="90954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Indexing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Caching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Load balancing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Data pipelines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9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ENGINEERS PREFER WORLD TWO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PREDICTABILITY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1" name="Google Shape;441;p69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2" name="Google Shape;442;p69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Known limits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Stable performance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Easier monitoring and scaling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0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COMMON STUDENT ERROR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OPTIMIZATION WITHOUT ASSUMPTIONS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8" name="Google Shape;448;p70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70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Complex code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 real performance gain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Still brute force underneath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1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WORLD TWO THINKING SKILLS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QUESTIONS ENGINEERS ASK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5" name="Google Shape;455;p71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71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can I assume?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can I precompute?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What can I discard early?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2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WORLD TWO IS NOT NEEDED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RIGHT TOOL, RIGHT PROBLEM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2" name="Google Shape;462;p72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3" name="Google Shape;46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5988" y="1695737"/>
            <a:ext cx="1752025" cy="175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3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WHEN WORLD TWO IS NOT NEEDED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RIGHT TOOL, RIGHT PROBLEM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9" name="Google Shape;469;p73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73"/>
          <p:cNvSpPr txBox="1"/>
          <p:nvPr/>
        </p:nvSpPr>
        <p:spPr>
          <a:xfrm>
            <a:off x="24300" y="158475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Small datasets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One-off computations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Rapid prototyping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5" name="Google Shape;475;p74"/>
          <p:cNvGraphicFramePr/>
          <p:nvPr/>
        </p:nvGraphicFramePr>
        <p:xfrm>
          <a:off x="805175" y="216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{1E6254DA-1F19-4DD0-A054-47F38758530C}</a:tableStyleId>
              </a:tblPr>
              <a:tblGrid>
                <a:gridCol w="1113725"/>
                <a:gridCol w="1113725"/>
                <a:gridCol w="1113725"/>
              </a:tblGrid>
              <a:tr h="83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0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6" name="Google Shape;476;p74"/>
          <p:cNvSpPr txBox="1"/>
          <p:nvPr/>
        </p:nvSpPr>
        <p:spPr>
          <a:xfrm>
            <a:off x="805175" y="1045800"/>
            <a:ext cx="6043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INTEGERS:  1  2  3  4  5  6  7  8  9</a:t>
            </a:r>
            <a:endParaRPr sz="2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74"/>
          <p:cNvSpPr txBox="1"/>
          <p:nvPr/>
        </p:nvSpPr>
        <p:spPr>
          <a:xfrm>
            <a:off x="0" y="0"/>
            <a:ext cx="91440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EXAMPLE - T000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TASK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8" name="Google Shape;478;p74"/>
          <p:cNvCxnSpPr/>
          <p:nvPr/>
        </p:nvCxnSpPr>
        <p:spPr>
          <a:xfrm>
            <a:off x="3097050" y="77812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74"/>
          <p:cNvSpPr/>
          <p:nvPr/>
        </p:nvSpPr>
        <p:spPr>
          <a:xfrm>
            <a:off x="4915800" y="3260576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0" name="Google Shape;480;p74"/>
          <p:cNvSpPr/>
          <p:nvPr/>
        </p:nvSpPr>
        <p:spPr>
          <a:xfrm rot="2345660">
            <a:off x="4915769" y="3227120"/>
            <a:ext cx="3459567" cy="22096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1" name="Google Shape;481;p74"/>
          <p:cNvSpPr/>
          <p:nvPr/>
        </p:nvSpPr>
        <p:spPr>
          <a:xfrm rot="-2235685">
            <a:off x="4947259" y="3272575"/>
            <a:ext cx="3459561" cy="22092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2" name="Google Shape;482;p74"/>
          <p:cNvSpPr/>
          <p:nvPr/>
        </p:nvSpPr>
        <p:spPr>
          <a:xfrm rot="5400000">
            <a:off x="5389900" y="3272125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3" name="Google Shape;483;p74"/>
          <p:cNvSpPr txBox="1"/>
          <p:nvPr/>
        </p:nvSpPr>
        <p:spPr>
          <a:xfrm>
            <a:off x="7593750" y="714900"/>
            <a:ext cx="10089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1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15</a:t>
            </a:r>
            <a:endParaRPr sz="71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74"/>
          <p:cNvSpPr/>
          <p:nvPr/>
        </p:nvSpPr>
        <p:spPr>
          <a:xfrm>
            <a:off x="4915750" y="2571751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5" name="Google Shape;485;p74"/>
          <p:cNvSpPr/>
          <p:nvPr/>
        </p:nvSpPr>
        <p:spPr>
          <a:xfrm>
            <a:off x="4915750" y="3949401"/>
            <a:ext cx="3459600" cy="220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6" name="Google Shape;486;p74"/>
          <p:cNvSpPr/>
          <p:nvPr/>
        </p:nvSpPr>
        <p:spPr>
          <a:xfrm rot="5400000">
            <a:off x="6279000" y="3349300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87" name="Google Shape;487;p74"/>
          <p:cNvSpPr/>
          <p:nvPr/>
        </p:nvSpPr>
        <p:spPr>
          <a:xfrm rot="5400000">
            <a:off x="4443950" y="3349300"/>
            <a:ext cx="2574300" cy="19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3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600" lIns="125600" spcFirstLastPara="1" rIns="125600" wrap="square" tIns="12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23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INCREMENTAL CONSTRUCTION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BACKTRACKING (NAME)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3" name="Google Shape;493;p7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4" name="Google Shape;494;p75"/>
          <p:cNvSpPr txBox="1"/>
          <p:nvPr/>
        </p:nvSpPr>
        <p:spPr>
          <a:xfrm>
            <a:off x="24300" y="1416600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Instead of filling the whole grid at once: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Fill the grid cell by cell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At each step, make a choice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If the choice fails → undo it (backtrack)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avoids generating all permutations.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CONSTRAINT CHECKING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0" name="Google Shape;500;p7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76"/>
          <p:cNvSpPr txBox="1"/>
          <p:nvPr/>
        </p:nvSpPr>
        <p:spPr>
          <a:xfrm>
            <a:off x="24300" y="1416600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Magic Square has strict constraints: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Numbers 1–9 used once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Row sum = 15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Column sum = 15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Diagonal sum = 15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These constraints are checked: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During construction</a:t>
            </a:r>
            <a:endParaRPr sz="1900">
              <a:solidFill>
                <a:schemeClr val="lt1"/>
              </a:solidFill>
            </a:endParaRPr>
          </a:p>
          <a:p>
            <a:pPr indent="-349250" lvl="0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Not at the end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PRUNING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EARLY TERMINATION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7" name="Google Shape;507;p7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77"/>
          <p:cNvSpPr txBox="1"/>
          <p:nvPr/>
        </p:nvSpPr>
        <p:spPr>
          <a:xfrm>
            <a:off x="24300" y="1203750"/>
            <a:ext cx="9095400" cy="32910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At each placement, we ask:</a:t>
            </a: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Does any row sum exceed 15?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Does any column sum exceed 15?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Does any diagonal exceed 15?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492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Char char="➢"/>
            </a:pPr>
            <a:r>
              <a:rPr lang="en" sz="1900">
                <a:solidFill>
                  <a:schemeClr val="lt1"/>
                </a:solidFill>
              </a:rPr>
              <a:t>Is a number reused?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If any answer is yes THEN stop exploring this branch immediately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SEARCH SPACE REDUCTION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sdsds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4" name="Google Shape;514;p7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5" name="Google Shape;515;p78"/>
          <p:cNvSpPr txBox="1"/>
          <p:nvPr/>
        </p:nvSpPr>
        <p:spPr>
          <a:xfrm>
            <a:off x="24300" y="1416600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Most partial grids are rejected early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algorithm explores only valid paths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total number of recursive calls drops dramatically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9"/>
          <p:cNvSpPr txBox="1"/>
          <p:nvPr/>
        </p:nvSpPr>
        <p:spPr>
          <a:xfrm>
            <a:off x="48525" y="63625"/>
            <a:ext cx="90954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T006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CODE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1" name="Google Shape;521;p79"/>
          <p:cNvCxnSpPr/>
          <p:nvPr/>
        </p:nvCxnSpPr>
        <p:spPr>
          <a:xfrm>
            <a:off x="3121275" y="6709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79"/>
          <p:cNvSpPr txBox="1"/>
          <p:nvPr/>
        </p:nvSpPr>
        <p:spPr>
          <a:xfrm>
            <a:off x="783825" y="1797600"/>
            <a:ext cx="76248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u="sng">
                <a:solidFill>
                  <a:schemeClr val="accent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https://github.com/AlaTooMirlanNurbekov/A006_Algorithmization_and_Programming/blob/main/0002_codes/T006.java</a:t>
            </a:r>
            <a:r>
              <a:rPr lang="en" sz="3300">
                <a:solidFill>
                  <a:schemeClr val="accent3"/>
                </a:solidFill>
              </a:rPr>
              <a:t> </a:t>
            </a:r>
            <a:endParaRPr sz="33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0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PROGRAM STARTS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8" name="Google Shape;528;p80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9" name="Google Shape;529;p80"/>
          <p:cNvSpPr txBox="1"/>
          <p:nvPr/>
        </p:nvSpPr>
        <p:spPr>
          <a:xfrm>
            <a:off x="0" y="2230625"/>
            <a:ext cx="90954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Java starts execution from main</a:t>
            </a:r>
            <a:endParaRPr sz="1900">
              <a:solidFill>
                <a:schemeClr val="lt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solve(0) means → start filling the grid and start from position 0</a:t>
            </a:r>
            <a:endParaRPr sz="1900">
              <a:solidFill>
                <a:schemeClr val="lt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At this moment the grid is completely empty (all zeros)</a:t>
            </a:r>
            <a:endParaRPr sz="1900">
              <a:solidFill>
                <a:schemeClr val="lt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used[ ] is all false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30" name="Google Shape;53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250" y="1098200"/>
            <a:ext cx="4812889" cy="8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81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PROGRAM STARTS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6" name="Google Shape;536;p81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7" name="Google Shape;537;p81"/>
          <p:cNvSpPr txBox="1"/>
          <p:nvPr/>
        </p:nvSpPr>
        <p:spPr>
          <a:xfrm>
            <a:off x="0" y="2230625"/>
            <a:ext cx="90954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WHAT DOES pos : 0 MEAN?</a:t>
            </a:r>
            <a:br>
              <a:rPr lang="en" sz="26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</p:txBody>
      </p:sp>
      <p:pic>
        <p:nvPicPr>
          <p:cNvPr id="538" name="Google Shape;538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250" y="1098200"/>
            <a:ext cx="4812889" cy="8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82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PROGRAM STARTS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4" name="Google Shape;544;p82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5" name="Google Shape;545;p82"/>
          <p:cNvSpPr txBox="1"/>
          <p:nvPr/>
        </p:nvSpPr>
        <p:spPr>
          <a:xfrm>
            <a:off x="24300" y="1001925"/>
            <a:ext cx="90954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int r = pos / 3;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int c = pos % 3;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We are filling grid[0][0]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(top-left corner)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For pos = 0: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r = 0 / 3 = 0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</a:rPr>
              <a:t>c = 0 % 3 = 0</a:t>
            </a:r>
            <a:endParaRPr sz="2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3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TRYING NUMBERS (1 → 9)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1" name="Google Shape;551;p83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2" name="Google Shape;552;p83"/>
          <p:cNvSpPr txBox="1"/>
          <p:nvPr/>
        </p:nvSpPr>
        <p:spPr>
          <a:xfrm>
            <a:off x="24300" y="2433150"/>
            <a:ext cx="9095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Let me try every possible number in this cell, one by one</a:t>
            </a:r>
            <a:endParaRPr sz="1800">
              <a:solidFill>
                <a:schemeClr val="lt1"/>
              </a:solidFill>
            </a:endParaRPr>
          </a:p>
        </p:txBody>
      </p:sp>
      <p:pic>
        <p:nvPicPr>
          <p:cNvPr id="553" name="Google Shape;55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3200" y="1031050"/>
            <a:ext cx="5437644" cy="5511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4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GRID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59" name="Google Shape;559;p84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560" name="Google Shape;560;p84"/>
          <p:cNvGraphicFramePr/>
          <p:nvPr/>
        </p:nvGraphicFramePr>
        <p:xfrm>
          <a:off x="952500" y="12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{1E6254DA-1F19-4DD0-A054-47F38758530C}</a:tableStyleId>
              </a:tblPr>
              <a:tblGrid>
                <a:gridCol w="2408625"/>
                <a:gridCol w="2408625"/>
                <a:gridCol w="2408625"/>
              </a:tblGrid>
              <a:tr h="71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8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SECOND CELL (0,1)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66" name="Google Shape;566;p8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7" name="Google Shape;567;p85"/>
          <p:cNvSpPr txBox="1"/>
          <p:nvPr/>
        </p:nvSpPr>
        <p:spPr>
          <a:xfrm>
            <a:off x="24300" y="1994425"/>
            <a:ext cx="9095400" cy="16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Used numbers: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UNused numbers: 2 … 9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8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IMMEDIATE VALIDATION (KEY WORLD TWO IDEA)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73" name="Google Shape;573;p8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4" name="Google Shape;574;p86"/>
          <p:cNvSpPr txBox="1"/>
          <p:nvPr/>
        </p:nvSpPr>
        <p:spPr>
          <a:xfrm>
            <a:off x="24300" y="1994425"/>
            <a:ext cx="9095400" cy="19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THE CORE DIFFERENCE from brute force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Instead of waiting until the end, we ask: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“Did placing 1 already break something?”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75" name="Google Shape;57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067450"/>
            <a:ext cx="4583725" cy="64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87"/>
          <p:cNvSpPr txBox="1"/>
          <p:nvPr/>
        </p:nvSpPr>
        <p:spPr>
          <a:xfrm>
            <a:off x="24300" y="155325"/>
            <a:ext cx="9095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isValid(0,0) CHECKS</a:t>
            </a:r>
            <a:endParaRPr b="1" sz="27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1" name="Google Shape;581;p87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87"/>
          <p:cNvSpPr txBox="1"/>
          <p:nvPr/>
        </p:nvSpPr>
        <p:spPr>
          <a:xfrm>
            <a:off x="24300" y="485500"/>
            <a:ext cx="9095400" cy="5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Row 0: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Sum =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 complete → OK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Column 0: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Sum =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 complete → OK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Main diagonal: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(0,0) is on diagonal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Sum =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 complete → OK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Nothing is broken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isValid returns </a:t>
            </a:r>
            <a:r>
              <a:rPr b="1" lang="en" sz="1900">
                <a:solidFill>
                  <a:schemeClr val="lt1"/>
                </a:solidFill>
              </a:rPr>
              <a:t>true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88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MOVE FORWARD (RECURSION)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88" name="Google Shape;588;p88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9" name="Google Shape;589;p88"/>
          <p:cNvSpPr txBox="1"/>
          <p:nvPr/>
        </p:nvSpPr>
        <p:spPr>
          <a:xfrm>
            <a:off x="24300" y="1416600"/>
            <a:ext cx="90954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solve(pos + 1);</a:t>
            </a: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Good choice so far. Let’s fill the next cell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89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 = 1 (SECOND CELL)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95" name="Google Shape;595;p89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6" name="Google Shape;596;p89"/>
          <p:cNvSpPr txBox="1"/>
          <p:nvPr/>
        </p:nvSpPr>
        <p:spPr>
          <a:xfrm>
            <a:off x="24300" y="1193525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For pos = 1: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 = 0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 =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 We are filling grid[0][1]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algorithm again tries numbers from 1 → 9.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num = 1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used[1] == true → SKIPPED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num = 2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STATUS: allowed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0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GRID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02" name="Google Shape;602;p90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603" name="Google Shape;603;p90"/>
          <p:cNvGraphicFramePr/>
          <p:nvPr/>
        </p:nvGraphicFramePr>
        <p:xfrm>
          <a:off x="952500" y="123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{1E6254DA-1F19-4DD0-A054-47F38758530C}</a:tableStyleId>
              </a:tblPr>
              <a:tblGrid>
                <a:gridCol w="2408625"/>
                <a:gridCol w="2408625"/>
                <a:gridCol w="2408625"/>
              </a:tblGrid>
              <a:tr h="710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2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3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700">
                          <a:solidFill>
                            <a:schemeClr val="accent3"/>
                          </a:solidFill>
                        </a:rPr>
                        <a:t>0</a:t>
                      </a:r>
                      <a:endParaRPr b="1" sz="27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1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POS = 1 (SECOND CELL)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09" name="Google Shape;609;p91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91"/>
          <p:cNvSpPr txBox="1"/>
          <p:nvPr/>
        </p:nvSpPr>
        <p:spPr>
          <a:xfrm>
            <a:off x="24300" y="1193525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isValid(0,1):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Row sum = 3 → OK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Column sum = 2 → OK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No diagonal involved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Valid → go deeper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92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THIS CONTINUES CELL BY CELL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16" name="Google Shape;616;p92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7" name="Google Shape;617;p92"/>
          <p:cNvSpPr txBox="1"/>
          <p:nvPr/>
        </p:nvSpPr>
        <p:spPr>
          <a:xfrm>
            <a:off x="24300" y="1193525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 algorithm keeps repeating the same pattern: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1. Pick next empty cell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2. Try numbers 1 → 9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3. Skip used numbers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4. Place number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5. Immediately check constraints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6. Continue or go back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93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PRUNING IN ACTION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23" name="Google Shape;623;p93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4" name="Google Shape;624;p93"/>
          <p:cNvSpPr txBox="1"/>
          <p:nvPr/>
        </p:nvSpPr>
        <p:spPr>
          <a:xfrm>
            <a:off x="24300" y="1193525"/>
            <a:ext cx="90954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At some point, the algorithm may try something like:</a:t>
            </a:r>
            <a:br>
              <a:rPr lang="en" sz="1900">
                <a:solidFill>
                  <a:schemeClr val="lt1"/>
                </a:solidFill>
              </a:rPr>
            </a:b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Row becomes: 8 + 7 + 4 = 19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Inside isValid --&gt; if (sum &gt; 15) return false;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branch is killed immediately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Number is removed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used[num] = false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Try next number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Entire future subtree is skipped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PRUNING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4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BACKTRACKING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30" name="Google Shape;630;p94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1" name="Google Shape;631;p94"/>
          <p:cNvSpPr txBox="1"/>
          <p:nvPr/>
        </p:nvSpPr>
        <p:spPr>
          <a:xfrm>
            <a:off x="142400" y="3135450"/>
            <a:ext cx="9095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Undo the move. Pretend this never happened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Then the algorithm tries the next number or goes back to the previous cell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632" name="Google Shape;6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963" y="1088725"/>
            <a:ext cx="3730075" cy="9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5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REACHING A FULL SOLUTION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38" name="Google Shape;638;p95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95"/>
          <p:cNvSpPr txBox="1"/>
          <p:nvPr/>
        </p:nvSpPr>
        <p:spPr>
          <a:xfrm>
            <a:off x="142400" y="3135450"/>
            <a:ext cx="90954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Eventually</a:t>
            </a:r>
            <a:r>
              <a:rPr lang="en" sz="1900">
                <a:solidFill>
                  <a:schemeClr val="lt1"/>
                </a:solidFill>
              </a:rPr>
              <a:t> we get to point when → if (pos == 9)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Means all 9 cells are filled and all checks passed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640" name="Google Shape;64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6963" y="1088725"/>
            <a:ext cx="3730075" cy="92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96"/>
          <p:cNvSpPr txBox="1"/>
          <p:nvPr/>
        </p:nvSpPr>
        <p:spPr>
          <a:xfrm>
            <a:off x="24300" y="155325"/>
            <a:ext cx="9095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ACTUALLY HAPPENS WHEN THE CODE RUNS</a:t>
            </a:r>
            <a:endParaRPr b="1" sz="31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46" name="Google Shape;646;p96"/>
          <p:cNvCxnSpPr/>
          <p:nvPr/>
        </p:nvCxnSpPr>
        <p:spPr>
          <a:xfrm>
            <a:off x="3097050" y="784675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7" name="Google Shape;647;p96"/>
          <p:cNvSpPr txBox="1"/>
          <p:nvPr/>
        </p:nvSpPr>
        <p:spPr>
          <a:xfrm>
            <a:off x="24300" y="1259125"/>
            <a:ext cx="90954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grid was built one cell at a time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After every placement, rules were checked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Bad paths were cut early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Only promising paths were explored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solution was inevitable, not lucky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9000">
              <a:srgbClr val="20124D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97"/>
          <p:cNvSpPr txBox="1"/>
          <p:nvPr/>
        </p:nvSpPr>
        <p:spPr>
          <a:xfrm>
            <a:off x="48525" y="279475"/>
            <a:ext cx="9095400" cy="37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endParaRPr b="1"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COMING SOON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World THREE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</a:rPr>
              <a:t>FROM STRUCTURE TO STRATEGY</a:t>
            </a:r>
            <a:br>
              <a:rPr lang="en" sz="2100">
                <a:solidFill>
                  <a:schemeClr val="lt1"/>
                </a:solidFill>
              </a:rPr>
            </a:br>
            <a:endParaRPr b="1"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653" name="Google Shape;653;p97"/>
          <p:cNvCxnSpPr/>
          <p:nvPr/>
        </p:nvCxnSpPr>
        <p:spPr>
          <a:xfrm>
            <a:off x="3097050" y="10862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