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embeddedFontLst>
    <p:embeddedFont>
      <p:font typeface="DM Sans Medium"/>
      <p:regular r:id="rId50"/>
      <p:bold r:id="rId51"/>
      <p:italic r:id="rId52"/>
      <p:boldItalic r:id="rId53"/>
    </p:embeddedFont>
    <p:embeddedFont>
      <p:font typeface="Caveat"/>
      <p:regular r:id="rId54"/>
      <p:bold r:id="rId55"/>
    </p:embeddedFont>
    <p:embeddedFont>
      <p:font typeface="Montserrat"/>
      <p:regular r:id="rId56"/>
      <p:bold r:id="rId57"/>
      <p:italic r:id="rId58"/>
      <p:boldItalic r:id="rId59"/>
    </p:embeddedFont>
    <p:embeddedFont>
      <p:font typeface="Merriweather"/>
      <p:regular r:id="rId60"/>
      <p:bold r:id="rId61"/>
      <p:italic r:id="rId62"/>
      <p:boldItalic r:id="rId63"/>
    </p:embeddedFont>
    <p:embeddedFont>
      <p:font typeface="DM Sans"/>
      <p:regular r:id="rId64"/>
      <p:bold r:id="rId65"/>
      <p:italic r:id="rId66"/>
      <p:boldItalic r:id="rId67"/>
    </p:embeddedFont>
    <p:embeddedFont>
      <p:font typeface="Open Sans Light"/>
      <p:regular r:id="rId68"/>
      <p:bold r:id="rId69"/>
      <p:italic r:id="rId70"/>
      <p:boldItalic r:id="rId71"/>
    </p:embeddedFont>
    <p:embeddedFont>
      <p:font typeface="Open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D482A9-31BA-4015-9242-673B7DB1268F}">
  <a:tblStyle styleId="{0BD482A9-31BA-4015-9242-673B7DB126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OpenSans-bold.fntdata"/><Relationship Id="rId72" Type="http://schemas.openxmlformats.org/officeDocument/2006/relationships/font" Target="fonts/OpenSans-regular.fntdata"/><Relationship Id="rId31" Type="http://schemas.openxmlformats.org/officeDocument/2006/relationships/slide" Target="slides/slide24.xml"/><Relationship Id="rId75" Type="http://schemas.openxmlformats.org/officeDocument/2006/relationships/font" Target="fonts/OpenSans-boldItalic.fntdata"/><Relationship Id="rId30" Type="http://schemas.openxmlformats.org/officeDocument/2006/relationships/slide" Target="slides/slide23.xml"/><Relationship Id="rId74" Type="http://schemas.openxmlformats.org/officeDocument/2006/relationships/font" Target="fonts/OpenSans-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OpenSansLight-boldItalic.fntdata"/><Relationship Id="rId70" Type="http://schemas.openxmlformats.org/officeDocument/2006/relationships/font" Target="fonts/OpenSansLight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Merriweather-italic.fntdata"/><Relationship Id="rId61" Type="http://schemas.openxmlformats.org/officeDocument/2006/relationships/font" Target="fonts/Merriweather-bold.fntdata"/><Relationship Id="rId20" Type="http://schemas.openxmlformats.org/officeDocument/2006/relationships/slide" Target="slides/slide13.xml"/><Relationship Id="rId64" Type="http://schemas.openxmlformats.org/officeDocument/2006/relationships/font" Target="fonts/DMSans-regular.fntdata"/><Relationship Id="rId63" Type="http://schemas.openxmlformats.org/officeDocument/2006/relationships/font" Target="fonts/Merriweather-boldItalic.fntdata"/><Relationship Id="rId22" Type="http://schemas.openxmlformats.org/officeDocument/2006/relationships/slide" Target="slides/slide15.xml"/><Relationship Id="rId66" Type="http://schemas.openxmlformats.org/officeDocument/2006/relationships/font" Target="fonts/DMSans-italic.fntdata"/><Relationship Id="rId21" Type="http://schemas.openxmlformats.org/officeDocument/2006/relationships/slide" Target="slides/slide14.xml"/><Relationship Id="rId65" Type="http://schemas.openxmlformats.org/officeDocument/2006/relationships/font" Target="fonts/DMSans-bold.fntdata"/><Relationship Id="rId24" Type="http://schemas.openxmlformats.org/officeDocument/2006/relationships/slide" Target="slides/slide17.xml"/><Relationship Id="rId68" Type="http://schemas.openxmlformats.org/officeDocument/2006/relationships/font" Target="fonts/OpenSansLight-regular.fntdata"/><Relationship Id="rId23" Type="http://schemas.openxmlformats.org/officeDocument/2006/relationships/slide" Target="slides/slide16.xml"/><Relationship Id="rId67" Type="http://schemas.openxmlformats.org/officeDocument/2006/relationships/font" Target="fonts/DMSans-boldItalic.fntdata"/><Relationship Id="rId60" Type="http://schemas.openxmlformats.org/officeDocument/2006/relationships/font" Target="fonts/Merriweather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OpenSansLigh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DMSansMedium-bold.fntdata"/><Relationship Id="rId50" Type="http://schemas.openxmlformats.org/officeDocument/2006/relationships/font" Target="fonts/DMSansMedium-regular.fntdata"/><Relationship Id="rId53" Type="http://schemas.openxmlformats.org/officeDocument/2006/relationships/font" Target="fonts/DMSansMedium-boldItalic.fntdata"/><Relationship Id="rId52" Type="http://schemas.openxmlformats.org/officeDocument/2006/relationships/font" Target="fonts/DMSansMedium-italic.fntdata"/><Relationship Id="rId11" Type="http://schemas.openxmlformats.org/officeDocument/2006/relationships/slide" Target="slides/slide4.xml"/><Relationship Id="rId55" Type="http://schemas.openxmlformats.org/officeDocument/2006/relationships/font" Target="fonts/Caveat-bold.fntdata"/><Relationship Id="rId10" Type="http://schemas.openxmlformats.org/officeDocument/2006/relationships/slide" Target="slides/slide3.xml"/><Relationship Id="rId54" Type="http://schemas.openxmlformats.org/officeDocument/2006/relationships/font" Target="fonts/Caveat-regular.fntdata"/><Relationship Id="rId13" Type="http://schemas.openxmlformats.org/officeDocument/2006/relationships/slide" Target="slides/slide6.xml"/><Relationship Id="rId57" Type="http://schemas.openxmlformats.org/officeDocument/2006/relationships/font" Target="fonts/Montserrat-bold.fntdata"/><Relationship Id="rId12" Type="http://schemas.openxmlformats.org/officeDocument/2006/relationships/slide" Target="slides/slide5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8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7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9df229e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9df229e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b6030229e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bb6030229e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31915c2d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31915c2d3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31915c2d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931915c2d3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22097737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220977374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2209773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22097737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22097737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c220977374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22097737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22097737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22097737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c220977374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22097737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c220977374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2209773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c22097737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2209773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c220977374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22a3737b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c22a3737b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22097737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c22097737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22a3737b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c22a3737bb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22a3737b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22a3737bb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22a3737b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c22a3737bb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2209773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220977374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22a3737b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c22a3737bb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22a3737b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c22a3737bb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22a3737b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c22a3737bb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22a3737b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22a3737bb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22a3737b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c22a3737bb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2209773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c22097737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22a3737b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c22a3737bb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22a3737b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c22a3737bb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22a3737b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c22a3737bb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22a3737b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c22a3737bb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22a3737b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c22a3737bb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22a3737b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c22a3737bb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22a3737b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c22a3737bb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c22a3737b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c22a3737bb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22a3737b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c22a3737bb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22a3737b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c22a3737bb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22a3737b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c22a3737bb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22a3737b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22a3737bb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22a3737b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c22a3737bb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c22a3737b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c22a3737bb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c22a3737b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c22a3737bb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22a3737b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c22a3737bb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1fb755c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c1fb755c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180225"/>
            <a:ext cx="8575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ALGORITHMIZATION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AND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PROGRAMMING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075E8"/>
                </a:solidFill>
                <a:latin typeface="Verdana"/>
                <a:ea typeface="Verdana"/>
                <a:cs typeface="Verdana"/>
                <a:sym typeface="Verdana"/>
              </a:rPr>
              <a:t>PART II</a:t>
            </a:r>
            <a:endParaRPr sz="3900">
              <a:solidFill>
                <a:srgbClr val="0075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 flipH="1" rot="10800000">
            <a:off x="3194400" y="4352257"/>
            <a:ext cx="2755200" cy="2400"/>
          </a:xfrm>
          <a:prstGeom prst="straightConnector1">
            <a:avLst/>
          </a:prstGeom>
          <a:noFill/>
          <a:ln cap="flat" cmpd="sng" w="38100">
            <a:solidFill>
              <a:srgbClr val="0077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05150" y="4614766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Semester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388950" y="1605900"/>
            <a:ext cx="83661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Computer science is no more about computers than astronomy is about telescopes.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457200" lvl="0" marL="36576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     — Edsger W. Dijkstra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580525" y="106710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8525" y="279475"/>
            <a:ext cx="90954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ONE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BRUTE FORCE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TRY EVERYTHING UNTIL SOMETHING WORKS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24300" y="2275225"/>
            <a:ext cx="90954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assumptions about input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Checks all possible solutions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Guarantees correctness (if it finishes)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Performance explodes as problem size grows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48525" y="279475"/>
            <a:ext cx="909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BRUTE FORCE IS USED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SIMPLICITY OVER PERFORMANCE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6" name="Google Shape;286;p4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47"/>
          <p:cNvSpPr txBox="1"/>
          <p:nvPr/>
        </p:nvSpPr>
        <p:spPr>
          <a:xfrm>
            <a:off x="24300" y="4096875"/>
            <a:ext cx="909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 force is often written on purpose before optimization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47"/>
          <p:cNvSpPr txBox="1"/>
          <p:nvPr/>
        </p:nvSpPr>
        <p:spPr>
          <a:xfrm>
            <a:off x="48525" y="1418575"/>
            <a:ext cx="9095400" cy="25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Small input sizes</a:t>
            </a:r>
            <a:b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Prototyping and validation</a:t>
            </a:r>
            <a:b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Security testing</a:t>
            </a:r>
            <a:b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Educational and debugging purposes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/>
        </p:nvSpPr>
        <p:spPr>
          <a:xfrm>
            <a:off x="48525" y="279475"/>
            <a:ext cx="90954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 FORCE ALGORITHM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EXAMPLES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Linear Search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Naive String Matching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Exhaustive Permutation Search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Subset Enumeration</a:t>
            </a:r>
            <a:br>
              <a:rPr lang="en" sz="2200">
                <a:solidFill>
                  <a:schemeClr val="lt1"/>
                </a:solidFill>
              </a:rPr>
            </a:br>
            <a:r>
              <a:rPr lang="en" sz="2200">
                <a:solidFill>
                  <a:schemeClr val="lt1"/>
                </a:solidFill>
              </a:rPr>
              <a:t>Password Guessing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Trial Division (Prime Checking)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4" name="Google Shape;294;p48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48525" y="279475"/>
            <a:ext cx="9095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BUILDING A MAGIC SQUARE BY FORCE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EXAMPLE - T000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Place numbers 1 to 9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In a 3 × 3 matrix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Each row, column, and diagonal must sum to 15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0" name="Google Shape;300;p4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50"/>
          <p:cNvGraphicFramePr/>
          <p:nvPr/>
        </p:nvGraphicFramePr>
        <p:xfrm>
          <a:off x="805175" y="21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50"/>
          <p:cNvSpPr txBox="1"/>
          <p:nvPr/>
        </p:nvSpPr>
        <p:spPr>
          <a:xfrm>
            <a:off x="805175" y="1045800"/>
            <a:ext cx="604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INTEGERS:  1  2  3  4  5  6  7  8  9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50"/>
          <p:cNvSpPr txBox="1"/>
          <p:nvPr/>
        </p:nvSpPr>
        <p:spPr>
          <a:xfrm>
            <a:off x="0" y="0"/>
            <a:ext cx="9144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 - T000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8" name="Google Shape;308;p50"/>
          <p:cNvCxnSpPr/>
          <p:nvPr/>
        </p:nvCxnSpPr>
        <p:spPr>
          <a:xfrm>
            <a:off x="3097050" y="77812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50"/>
          <p:cNvSpPr/>
          <p:nvPr/>
        </p:nvSpPr>
        <p:spPr>
          <a:xfrm>
            <a:off x="4915800" y="3260576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50"/>
          <p:cNvSpPr/>
          <p:nvPr/>
        </p:nvSpPr>
        <p:spPr>
          <a:xfrm rot="2345660">
            <a:off x="4915769" y="3227120"/>
            <a:ext cx="3459567" cy="2209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50"/>
          <p:cNvSpPr/>
          <p:nvPr/>
        </p:nvSpPr>
        <p:spPr>
          <a:xfrm rot="-2235685">
            <a:off x="4947259" y="3272575"/>
            <a:ext cx="3459561" cy="2209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50"/>
          <p:cNvSpPr/>
          <p:nvPr/>
        </p:nvSpPr>
        <p:spPr>
          <a:xfrm rot="5400000">
            <a:off x="5389900" y="3272125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50"/>
          <p:cNvSpPr txBox="1"/>
          <p:nvPr/>
        </p:nvSpPr>
        <p:spPr>
          <a:xfrm>
            <a:off x="7593750" y="714900"/>
            <a:ext cx="10089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71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50"/>
          <p:cNvSpPr/>
          <p:nvPr/>
        </p:nvSpPr>
        <p:spPr>
          <a:xfrm>
            <a:off x="4915750" y="2571751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50"/>
          <p:cNvSpPr/>
          <p:nvPr/>
        </p:nvSpPr>
        <p:spPr>
          <a:xfrm>
            <a:off x="4915750" y="3949401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50"/>
          <p:cNvSpPr/>
          <p:nvPr/>
        </p:nvSpPr>
        <p:spPr>
          <a:xfrm rot="5400000">
            <a:off x="6279000" y="3349300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50"/>
          <p:cNvSpPr/>
          <p:nvPr/>
        </p:nvSpPr>
        <p:spPr>
          <a:xfrm rot="5400000">
            <a:off x="4443950" y="3349300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/>
        </p:nvSpPr>
        <p:spPr>
          <a:xfrm>
            <a:off x="48525" y="279475"/>
            <a:ext cx="90954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KNOWN FACT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 - T000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Only fex valid solutions exist</a:t>
            </a:r>
            <a:br>
              <a:rPr lang="en" sz="2200">
                <a:solidFill>
                  <a:schemeClr val="lt1"/>
                </a:solidFill>
              </a:rPr>
            </a:b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Brute force does NOT “know” the answer</a:t>
            </a:r>
            <a:br>
              <a:rPr lang="en" sz="2200">
                <a:solidFill>
                  <a:schemeClr val="lt1"/>
                </a:solidFill>
              </a:rPr>
            </a:b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It finds it by trying everything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3" name="Google Shape;323;p51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/>
        </p:nvSpPr>
        <p:spPr>
          <a:xfrm>
            <a:off x="48525" y="279475"/>
            <a:ext cx="9095400" cy="4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IS A BRUTE FORCE PROBLEM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SHORTCUTS, NO ASSUMPTIONS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All permutations of numbers 1–9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Total possibilities: </a:t>
            </a:r>
            <a:r>
              <a:rPr b="1" lang="en" sz="2800">
                <a:solidFill>
                  <a:schemeClr val="lt1"/>
                </a:solidFill>
              </a:rPr>
              <a:t>362,880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Algorithm checks each permutation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Stops when a valid square is found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9" name="Google Shape;329;p52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/>
          <p:nvPr/>
        </p:nvSpPr>
        <p:spPr>
          <a:xfrm>
            <a:off x="48525" y="279475"/>
            <a:ext cx="90954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CODE IT YOURSELF FIRST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TEST YOUR THINKING BEFORE LOOKING AHEAD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0000"/>
                </a:solidFill>
              </a:rPr>
              <a:t>Struggle is part of learning</a:t>
            </a:r>
            <a:br>
              <a:rPr lang="en" sz="2600">
                <a:solidFill>
                  <a:schemeClr val="lt1"/>
                </a:solidFill>
              </a:rPr>
            </a:b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0000"/>
                </a:solidFill>
              </a:rPr>
              <a:t>Mistakes reveal understanding</a:t>
            </a:r>
            <a:br>
              <a:rPr lang="en" sz="2600">
                <a:solidFill>
                  <a:schemeClr val="lt1"/>
                </a:solidFill>
              </a:rPr>
            </a:b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0000"/>
                </a:solidFill>
              </a:rPr>
              <a:t>Solutions matter more after effort</a:t>
            </a:r>
            <a:endParaRPr b="1" sz="2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5" name="Google Shape;335;p5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/>
        </p:nvSpPr>
        <p:spPr>
          <a:xfrm>
            <a:off x="48525" y="279475"/>
            <a:ext cx="90954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BRUTE FORCE SOLVES THIS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LOGIC BEHIND THE PROCESS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1 - Generate a permutation of numbers 1–9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2 - Place them into a 3×3 grid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3 - Check all rows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4 - Check all columns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5 - Check both diagonals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6 - If valid → stop</a:t>
            </a:r>
            <a:endParaRPr sz="2200">
              <a:solidFill>
                <a:schemeClr val="lt1"/>
              </a:solidFill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7 - If not → try next permutation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1" name="Google Shape;341;p54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5"/>
          <p:cNvSpPr txBox="1"/>
          <p:nvPr/>
        </p:nvSpPr>
        <p:spPr>
          <a:xfrm>
            <a:off x="48525" y="279475"/>
            <a:ext cx="90954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VISUALIZING THE SEARCH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EXHAUSTIVE EXPLORATION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The algorithm does not “learn”, it only checks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First permutation: rejected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Second permutation: rejected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…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Thousands rejected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One finally accepted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7" name="Google Shape;347;p5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/>
          <p:nvPr/>
        </p:nvSpPr>
        <p:spPr>
          <a:xfrm>
            <a:off x="48525" y="279475"/>
            <a:ext cx="90954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PERMUTATION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Fixes one position at a time</a:t>
            </a:r>
            <a:endParaRPr sz="2200">
              <a:solidFill>
                <a:schemeClr val="lt1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Swaps values to generate new arrangements</a:t>
            </a:r>
            <a:endParaRPr sz="2200">
              <a:solidFill>
                <a:schemeClr val="lt1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Recursively explores all branches</a:t>
            </a:r>
            <a:endParaRPr sz="2200">
              <a:solidFill>
                <a:schemeClr val="lt1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Total calls grow factorially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3" name="Google Shape;353;p56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4" name="Google Shape;354;p56"/>
          <p:cNvPicPr preferRelativeResize="0"/>
          <p:nvPr/>
        </p:nvPicPr>
        <p:blipFill rotWithShape="1">
          <a:blip r:embed="rId3">
            <a:alphaModFix/>
          </a:blip>
          <a:srcRect b="0" l="15817" r="0" t="0"/>
          <a:stretch/>
        </p:blipFill>
        <p:spPr>
          <a:xfrm>
            <a:off x="973013" y="1643625"/>
            <a:ext cx="7621474" cy="6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/>
        </p:nvSpPr>
        <p:spPr>
          <a:xfrm>
            <a:off x="48525" y="279475"/>
            <a:ext cx="9095400" cy="4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Hard-coded checks for:</a:t>
            </a:r>
            <a:endParaRPr sz="22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Rows</a:t>
            </a:r>
            <a:endParaRPr sz="22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Columns</a:t>
            </a:r>
            <a:br>
              <a:rPr lang="en" sz="2200">
                <a:solidFill>
                  <a:schemeClr val="lt1"/>
                </a:solidFill>
              </a:rPr>
            </a:br>
            <a:r>
              <a:rPr lang="en" sz="2200">
                <a:solidFill>
                  <a:schemeClr val="lt1"/>
                </a:solidFill>
              </a:rPr>
              <a:t>	Diagonals</a:t>
            </a:r>
            <a:endParaRPr sz="22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Fast validation</a:t>
            </a:r>
            <a:endParaRPr sz="22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Called hundreds of thousands of times</a:t>
            </a:r>
            <a:endParaRPr sz="2200">
              <a:solidFill>
                <a:schemeClr val="lt1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cxnSp>
        <p:nvCxnSpPr>
          <p:cNvPr id="360" name="Google Shape;360;p5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1" name="Google Shape;3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00" y="1478425"/>
            <a:ext cx="7948000" cy="7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/>
        </p:nvSpPr>
        <p:spPr>
          <a:xfrm>
            <a:off x="48525" y="279475"/>
            <a:ext cx="909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7" name="Google Shape;367;p58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68" name="Google Shape;368;p58"/>
          <p:cNvGraphicFramePr/>
          <p:nvPr/>
        </p:nvGraphicFramePr>
        <p:xfrm>
          <a:off x="2901413" y="19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9" name="Google Shape;369;p58"/>
          <p:cNvSpPr txBox="1"/>
          <p:nvPr/>
        </p:nvSpPr>
        <p:spPr>
          <a:xfrm>
            <a:off x="3221700" y="1345188"/>
            <a:ext cx="27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FIRST RUN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0" name="Google Shape;370;p58"/>
          <p:cNvSpPr txBox="1"/>
          <p:nvPr/>
        </p:nvSpPr>
        <p:spPr>
          <a:xfrm>
            <a:off x="3245925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1" name="Google Shape;371;p58"/>
          <p:cNvSpPr txBox="1"/>
          <p:nvPr/>
        </p:nvSpPr>
        <p:spPr>
          <a:xfrm>
            <a:off x="3304575" y="301086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372" name="Google Shape;372;p58"/>
          <p:cNvSpPr txBox="1"/>
          <p:nvPr/>
        </p:nvSpPr>
        <p:spPr>
          <a:xfrm>
            <a:off x="4386013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3" name="Google Shape;373;p58"/>
          <p:cNvSpPr txBox="1"/>
          <p:nvPr/>
        </p:nvSpPr>
        <p:spPr>
          <a:xfrm>
            <a:off x="324592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7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4" name="Google Shape;374;p58"/>
          <p:cNvSpPr txBox="1"/>
          <p:nvPr/>
        </p:nvSpPr>
        <p:spPr>
          <a:xfrm>
            <a:off x="4386000" y="3836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8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5" name="Google Shape;375;p58"/>
          <p:cNvSpPr txBox="1"/>
          <p:nvPr/>
        </p:nvSpPr>
        <p:spPr>
          <a:xfrm>
            <a:off x="4387150" y="30453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6" name="Google Shape;376;p58"/>
          <p:cNvSpPr txBox="1"/>
          <p:nvPr/>
        </p:nvSpPr>
        <p:spPr>
          <a:xfrm>
            <a:off x="5469725" y="218521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7" name="Google Shape;377;p58"/>
          <p:cNvSpPr txBox="1"/>
          <p:nvPr/>
        </p:nvSpPr>
        <p:spPr>
          <a:xfrm>
            <a:off x="5469725" y="3010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6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78" name="Google Shape;378;p58"/>
          <p:cNvSpPr txBox="1"/>
          <p:nvPr/>
        </p:nvSpPr>
        <p:spPr>
          <a:xfrm>
            <a:off x="5469725" y="3836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9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"/>
          <p:cNvSpPr txBox="1"/>
          <p:nvPr/>
        </p:nvSpPr>
        <p:spPr>
          <a:xfrm>
            <a:off x="48525" y="279475"/>
            <a:ext cx="909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4" name="Google Shape;384;p5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85" name="Google Shape;385;p59"/>
          <p:cNvGraphicFramePr/>
          <p:nvPr/>
        </p:nvGraphicFramePr>
        <p:xfrm>
          <a:off x="2901413" y="19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6" name="Google Shape;386;p59"/>
          <p:cNvSpPr txBox="1"/>
          <p:nvPr/>
        </p:nvSpPr>
        <p:spPr>
          <a:xfrm>
            <a:off x="3061500" y="1345188"/>
            <a:ext cx="30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SECOND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87" name="Google Shape;387;p59"/>
          <p:cNvSpPr txBox="1"/>
          <p:nvPr/>
        </p:nvSpPr>
        <p:spPr>
          <a:xfrm>
            <a:off x="3245925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88" name="Google Shape;388;p59"/>
          <p:cNvSpPr txBox="1"/>
          <p:nvPr/>
        </p:nvSpPr>
        <p:spPr>
          <a:xfrm>
            <a:off x="3304575" y="301086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389" name="Google Shape;389;p59"/>
          <p:cNvSpPr txBox="1"/>
          <p:nvPr/>
        </p:nvSpPr>
        <p:spPr>
          <a:xfrm>
            <a:off x="4386013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0" name="Google Shape;390;p59"/>
          <p:cNvSpPr txBox="1"/>
          <p:nvPr/>
        </p:nvSpPr>
        <p:spPr>
          <a:xfrm>
            <a:off x="324592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7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1" name="Google Shape;391;p59"/>
          <p:cNvSpPr txBox="1"/>
          <p:nvPr/>
        </p:nvSpPr>
        <p:spPr>
          <a:xfrm>
            <a:off x="5469725" y="383652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8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2" name="Google Shape;392;p59"/>
          <p:cNvSpPr txBox="1"/>
          <p:nvPr/>
        </p:nvSpPr>
        <p:spPr>
          <a:xfrm>
            <a:off x="4387150" y="30453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3" name="Google Shape;393;p59"/>
          <p:cNvSpPr txBox="1"/>
          <p:nvPr/>
        </p:nvSpPr>
        <p:spPr>
          <a:xfrm>
            <a:off x="5469725" y="218521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4" name="Google Shape;394;p59"/>
          <p:cNvSpPr txBox="1"/>
          <p:nvPr/>
        </p:nvSpPr>
        <p:spPr>
          <a:xfrm>
            <a:off x="5469725" y="3010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6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95" name="Google Shape;395;p59"/>
          <p:cNvSpPr txBox="1"/>
          <p:nvPr/>
        </p:nvSpPr>
        <p:spPr>
          <a:xfrm>
            <a:off x="441022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9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/>
        </p:nvSpPr>
        <p:spPr>
          <a:xfrm>
            <a:off x="48525" y="279475"/>
            <a:ext cx="909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1" name="Google Shape;401;p60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02" name="Google Shape;402;p60"/>
          <p:cNvGraphicFramePr/>
          <p:nvPr/>
        </p:nvGraphicFramePr>
        <p:xfrm>
          <a:off x="2901413" y="19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3" name="Google Shape;403;p60"/>
          <p:cNvSpPr txBox="1"/>
          <p:nvPr/>
        </p:nvSpPr>
        <p:spPr>
          <a:xfrm>
            <a:off x="3061500" y="1345188"/>
            <a:ext cx="30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THIRD RUN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04" name="Google Shape;404;p60"/>
          <p:cNvSpPr txBox="1"/>
          <p:nvPr/>
        </p:nvSpPr>
        <p:spPr>
          <a:xfrm>
            <a:off x="3245925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05" name="Google Shape;405;p60"/>
          <p:cNvSpPr txBox="1"/>
          <p:nvPr/>
        </p:nvSpPr>
        <p:spPr>
          <a:xfrm>
            <a:off x="3304575" y="301086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4386013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07" name="Google Shape;407;p60"/>
          <p:cNvSpPr txBox="1"/>
          <p:nvPr/>
        </p:nvSpPr>
        <p:spPr>
          <a:xfrm>
            <a:off x="441022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7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08" name="Google Shape;408;p60"/>
          <p:cNvSpPr txBox="1"/>
          <p:nvPr/>
        </p:nvSpPr>
        <p:spPr>
          <a:xfrm>
            <a:off x="330457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8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09" name="Google Shape;409;p60"/>
          <p:cNvSpPr txBox="1"/>
          <p:nvPr/>
        </p:nvSpPr>
        <p:spPr>
          <a:xfrm>
            <a:off x="4387150" y="30453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10" name="Google Shape;410;p60"/>
          <p:cNvSpPr txBox="1"/>
          <p:nvPr/>
        </p:nvSpPr>
        <p:spPr>
          <a:xfrm>
            <a:off x="5469725" y="218521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11" name="Google Shape;411;p60"/>
          <p:cNvSpPr txBox="1"/>
          <p:nvPr/>
        </p:nvSpPr>
        <p:spPr>
          <a:xfrm>
            <a:off x="5469725" y="3010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6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12" name="Google Shape;412;p60"/>
          <p:cNvSpPr txBox="1"/>
          <p:nvPr/>
        </p:nvSpPr>
        <p:spPr>
          <a:xfrm>
            <a:off x="5515875" y="383652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9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/>
          <p:nvPr/>
        </p:nvSpPr>
        <p:spPr>
          <a:xfrm>
            <a:off x="48525" y="279475"/>
            <a:ext cx="909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8" name="Google Shape;418;p61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19" name="Google Shape;419;p61"/>
          <p:cNvGraphicFramePr/>
          <p:nvPr/>
        </p:nvGraphicFramePr>
        <p:xfrm>
          <a:off x="2901413" y="197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0" name="Google Shape;420;p61"/>
          <p:cNvSpPr txBox="1"/>
          <p:nvPr/>
        </p:nvSpPr>
        <p:spPr>
          <a:xfrm>
            <a:off x="3061500" y="1345188"/>
            <a:ext cx="30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FOURTH RUN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1" name="Google Shape;421;p61"/>
          <p:cNvSpPr txBox="1"/>
          <p:nvPr/>
        </p:nvSpPr>
        <p:spPr>
          <a:xfrm>
            <a:off x="3245925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2" name="Google Shape;422;p61"/>
          <p:cNvSpPr txBox="1"/>
          <p:nvPr/>
        </p:nvSpPr>
        <p:spPr>
          <a:xfrm>
            <a:off x="3304575" y="301086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423" name="Google Shape;423;p61"/>
          <p:cNvSpPr txBox="1"/>
          <p:nvPr/>
        </p:nvSpPr>
        <p:spPr>
          <a:xfrm>
            <a:off x="4386013" y="22024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4" name="Google Shape;424;p61"/>
          <p:cNvSpPr txBox="1"/>
          <p:nvPr/>
        </p:nvSpPr>
        <p:spPr>
          <a:xfrm>
            <a:off x="5469725" y="383652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7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5" name="Google Shape;425;p61"/>
          <p:cNvSpPr txBox="1"/>
          <p:nvPr/>
        </p:nvSpPr>
        <p:spPr>
          <a:xfrm>
            <a:off x="3304575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8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4387150" y="304535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469725" y="2185213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8" name="Google Shape;428;p61"/>
          <p:cNvSpPr txBox="1"/>
          <p:nvPr/>
        </p:nvSpPr>
        <p:spPr>
          <a:xfrm>
            <a:off x="5469725" y="3010875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6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29" name="Google Shape;429;p61"/>
          <p:cNvSpPr txBox="1"/>
          <p:nvPr/>
        </p:nvSpPr>
        <p:spPr>
          <a:xfrm>
            <a:off x="4386000" y="3819300"/>
            <a:ext cx="3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9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"/>
          <p:cNvSpPr txBox="1"/>
          <p:nvPr/>
        </p:nvSpPr>
        <p:spPr>
          <a:xfrm>
            <a:off x="48525" y="279475"/>
            <a:ext cx="90954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1st RUN: 1 2 3 4 5 6 7 8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2nd RUN: 1 2 3 4 5 6 7 9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3rd RUN: 1 2 3 4 5 6 8 7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4th RUN: 1 2 3 4 5 6 8 9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5th RUN: 1 2 3 4 5 6 9 7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6th RUN: 1 2 3 4 5 6 9 8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…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435" name="Google Shape;435;p62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3"/>
          <p:cNvSpPr txBox="1"/>
          <p:nvPr/>
        </p:nvSpPr>
        <p:spPr>
          <a:xfrm>
            <a:off x="48525" y="279475"/>
            <a:ext cx="90954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40th RUN: 1 2 3 4 5 7 9 8 6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41st RUN: 1 2 3 4 5 8 6 7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42nd RUN: 1 2 3 4 5 8 6 9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43rd RUN: 1 2 3 4 5 8 7 6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44th RUN: 1 2 3 4 5 8 7 9 6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45th RUN: 1 2 3 4 5 8 9 6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…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441" name="Google Shape;441;p6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/>
          <p:nvPr/>
        </p:nvSpPr>
        <p:spPr>
          <a:xfrm>
            <a:off x="48525" y="279475"/>
            <a:ext cx="90954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155th RUN: 1 2 3 4 6 7 9 8 5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156th RUN: 1 2 3 4 6 7 9 5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157th RUN: 1 2 3 4 6 8 5 7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158th RUN: 1 2 3 4 6 8 5 9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159th RUN: 1 2 3 4 6 8 7 5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160th RUN: 1 2 3 4 6 8 7 9 5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…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447" name="Google Shape;447;p64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 txBox="1"/>
          <p:nvPr/>
        </p:nvSpPr>
        <p:spPr>
          <a:xfrm>
            <a:off x="48525" y="279475"/>
            <a:ext cx="90954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40,320th RUN: 1 9 8 7 6 5 4 3 2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40,321st RUN: 2 1 3 4 5 6 7 8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40,322nd RUN: 2 1 3 4 5 6 7 9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40,323rd RUN: 2 1 3 4 5 6 8 7 9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40,324th RUN: 2 1 3 4 5 6 8 9 7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40,325th RUN: 2 1 3 4 5 6 9 7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…</a:t>
            </a:r>
            <a:endParaRPr sz="2300">
              <a:solidFill>
                <a:schemeClr val="lt1"/>
              </a:solidFill>
            </a:endParaRPr>
          </a:p>
        </p:txBody>
      </p:sp>
      <p:cxnSp>
        <p:nvCxnSpPr>
          <p:cNvPr id="453" name="Google Shape;453;p6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/>
          <p:nvPr/>
        </p:nvSpPr>
        <p:spPr>
          <a:xfrm>
            <a:off x="48525" y="279475"/>
            <a:ext cx="90954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45,357th RUN: 2 7 6 9 4 8 5 1 3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45,358th RUN: 2 7 6 9 4 8 5 3 1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45,359th RUN: 2 7 6 9 5 1 4 8 3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45,360th RUN: 2 7 6 9 5 1 8 3 4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45,361st RUN: 2 7 6 9 5 1 4 3 8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…</a:t>
            </a:r>
            <a:endParaRPr sz="2300">
              <a:solidFill>
                <a:schemeClr val="lt1"/>
              </a:solidFill>
            </a:endParaRPr>
          </a:p>
        </p:txBody>
      </p:sp>
      <p:cxnSp>
        <p:nvCxnSpPr>
          <p:cNvPr id="459" name="Google Shape;459;p66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7"/>
          <p:cNvSpPr txBox="1"/>
          <p:nvPr/>
        </p:nvSpPr>
        <p:spPr>
          <a:xfrm>
            <a:off x="48525" y="279475"/>
            <a:ext cx="9095400" cy="3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To find the very first solution, the code has to run through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lt1"/>
                </a:solidFill>
              </a:rPr>
              <a:t>45,361 </a:t>
            </a:r>
            <a:endParaRPr b="1" sz="3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combinations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5" name="Google Shape;465;p6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/>
        </p:nvSpPr>
        <p:spPr>
          <a:xfrm>
            <a:off x="48525" y="63625"/>
            <a:ext cx="90954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T000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CODE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1" name="Google Shape;471;p68"/>
          <p:cNvCxnSpPr/>
          <p:nvPr/>
        </p:nvCxnSpPr>
        <p:spPr>
          <a:xfrm>
            <a:off x="3121275" y="67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" name="Google Shape;47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189" y="711159"/>
            <a:ext cx="4818442" cy="438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9"/>
          <p:cNvSpPr txBox="1"/>
          <p:nvPr/>
        </p:nvSpPr>
        <p:spPr>
          <a:xfrm>
            <a:off x="48525" y="279475"/>
            <a:ext cx="90954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IF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What if the code run through all 362,880 possible combinations?</a:t>
            </a:r>
            <a:br>
              <a:rPr lang="en" sz="2200">
                <a:solidFill>
                  <a:schemeClr val="lt1"/>
                </a:solidFill>
              </a:rPr>
            </a:b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HOW MANY POSSIBLE ANSWERS EXISTS?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8" name="Google Shape;478;p6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 txBox="1"/>
          <p:nvPr/>
        </p:nvSpPr>
        <p:spPr>
          <a:xfrm>
            <a:off x="48525" y="279475"/>
            <a:ext cx="9095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IF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00">
                <a:solidFill>
                  <a:srgbClr val="FF0000"/>
                </a:solidFill>
              </a:rPr>
              <a:t>8</a:t>
            </a:r>
            <a:endParaRPr b="1" sz="9300">
              <a:solidFill>
                <a:srgbClr val="FF0000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4" name="Google Shape;484;p70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1"/>
          <p:cNvSpPr txBox="1"/>
          <p:nvPr/>
        </p:nvSpPr>
        <p:spPr>
          <a:xfrm>
            <a:off x="24300" y="178100"/>
            <a:ext cx="9095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cxnSp>
        <p:nvCxnSpPr>
          <p:cNvPr id="490" name="Google Shape;490;p71"/>
          <p:cNvCxnSpPr/>
          <p:nvPr/>
        </p:nvCxnSpPr>
        <p:spPr>
          <a:xfrm>
            <a:off x="3097050" y="77812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91" name="Google Shape;491;p71"/>
          <p:cNvGraphicFramePr/>
          <p:nvPr/>
        </p:nvGraphicFramePr>
        <p:xfrm>
          <a:off x="253463" y="87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2879025"/>
                <a:gridCol w="2879025"/>
                <a:gridCol w="2879025"/>
              </a:tblGrid>
              <a:tr h="46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45,361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2 7 6 9 5 1 4 3 8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47,905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2 9 4 7 5 3 6 1 8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125,065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4 3 8 9 5 1 2 7 6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129,601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4 9 2 3 5 7 8 1 6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233,281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6 1 8 7 5 3 2 9 4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237,817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6 7 2 1 5 9 8 3 4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314,977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8 1 6 3 5 7 4 9 2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317,521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8 3 4 1 5 9 6 7 2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2"/>
          <p:cNvSpPr txBox="1"/>
          <p:nvPr/>
        </p:nvSpPr>
        <p:spPr>
          <a:xfrm>
            <a:off x="48525" y="279475"/>
            <a:ext cx="90954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MODIFY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Modify the existing Java program to find all 8 possible Magic Squares instead of stopping at the first one. You must track the "Run Number" for every combination tested and display it for each solution found.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7" name="Google Shape;497;p72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/>
          <p:nvPr/>
        </p:nvSpPr>
        <p:spPr>
          <a:xfrm>
            <a:off x="415225" y="279475"/>
            <a:ext cx="8425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TIP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Remove the "Kill Switch": Identify and remove the line of code that forces the program to stop after the first success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3" name="Google Shape;503;p7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4"/>
          <p:cNvSpPr txBox="1"/>
          <p:nvPr/>
        </p:nvSpPr>
        <p:spPr>
          <a:xfrm>
            <a:off x="415225" y="279475"/>
            <a:ext cx="84252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TIP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Add a global counter to create a variable (outside the recursive method) that increments every time isMagic() is called. This tracks the total number of permutations tested</a:t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9" name="Google Shape;509;p74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5"/>
          <p:cNvSpPr txBox="1"/>
          <p:nvPr/>
        </p:nvSpPr>
        <p:spPr>
          <a:xfrm>
            <a:off x="415225" y="279475"/>
            <a:ext cx="8425200" cy="49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TIP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Update the output </a:t>
            </a:r>
            <a:endParaRPr b="1"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When a solution is found, print: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The Solution Number (1 through 8).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The Run Number (the exact permutation count).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</a:rPr>
              <a:t>The 3x3 Grid format.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cxnSp>
        <p:nvCxnSpPr>
          <p:cNvPr id="515" name="Google Shape;515;p7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6"/>
          <p:cNvSpPr txBox="1"/>
          <p:nvPr/>
        </p:nvSpPr>
        <p:spPr>
          <a:xfrm>
            <a:off x="24300" y="178100"/>
            <a:ext cx="9095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OUTPUT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cxnSp>
        <p:nvCxnSpPr>
          <p:cNvPr id="521" name="Google Shape;521;p76"/>
          <p:cNvCxnSpPr/>
          <p:nvPr/>
        </p:nvCxnSpPr>
        <p:spPr>
          <a:xfrm>
            <a:off x="3097050" y="77812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22" name="Google Shape;522;p76"/>
          <p:cNvGraphicFramePr/>
          <p:nvPr/>
        </p:nvGraphicFramePr>
        <p:xfrm>
          <a:off x="253463" y="87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{0BD482A9-31BA-4015-9242-673B7DB1268F}</a:tableStyleId>
              </a:tblPr>
              <a:tblGrid>
                <a:gridCol w="2879025"/>
                <a:gridCol w="2879025"/>
                <a:gridCol w="2879025"/>
              </a:tblGrid>
              <a:tr h="46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45,361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2 7 6 9 5 1 4 3 8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47,905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2 9 4 7 5 3 6 1 8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125,065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4 3 8 9 5 1 2 7 6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129,601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4 9 2 3 5 7 8 1 6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5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233,281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6 1 8 7 5 3 2 9 4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237,817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6 7 2 1 5 9 8 3 4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314,977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8 1 6 3 5 7 4 9 2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317,521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3"/>
                          </a:solidFill>
                        </a:rPr>
                        <a:t>8 3 4 1 5 9 6 7 2</a:t>
                      </a:r>
                      <a:endParaRPr b="1" sz="20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7"/>
          <p:cNvSpPr txBox="1"/>
          <p:nvPr/>
        </p:nvSpPr>
        <p:spPr>
          <a:xfrm>
            <a:off x="415225" y="279475"/>
            <a:ext cx="8425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T002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A security vault uses a 4-digit code using the numbers	 {1, 2, 3, 4}. Each number is used exactly once. However, the vault has a "Security Delay" it takes 100 milliseconds for the vault to check if a code is correct.</a:t>
            </a:r>
            <a:br>
              <a:rPr lang="en" sz="2600">
                <a:solidFill>
                  <a:schemeClr val="lt1"/>
                </a:solidFill>
              </a:rPr>
            </a:br>
            <a:r>
              <a:rPr lang="en" sz="2600">
                <a:solidFill>
                  <a:schemeClr val="lt1"/>
                </a:solidFill>
              </a:rPr>
              <a:t>Modify the permutation logic to find the secret code: 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"4 3 2 1"</a:t>
            </a:r>
            <a:endParaRPr sz="2600">
              <a:solidFill>
                <a:schemeClr val="lt1"/>
              </a:solidFill>
            </a:endParaRPr>
          </a:p>
        </p:txBody>
      </p:sp>
      <p:cxnSp>
        <p:nvCxnSpPr>
          <p:cNvPr id="528" name="Google Shape;528;p7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8"/>
          <p:cNvSpPr txBox="1"/>
          <p:nvPr/>
        </p:nvSpPr>
        <p:spPr>
          <a:xfrm>
            <a:off x="428600" y="32700"/>
            <a:ext cx="8425200" cy="5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T002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RESULT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Starting brute force attack on vault...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1: [1, 2, 3, 4]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2: [1, 2, 4, 3]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3: [1, 3, 2, 4]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...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12: [2, 4, 3, 1]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...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18: [3, 4, 2, 1]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...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23: [4, 3, 1, 2] ... WRONG (100ms delay)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Attempt 24: [4, 3, 2, 1] ... SUCCESS!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VAULT UNLOCKED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Total attempts: 24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Time elapsed: 2400 milliseconds (2.4 seconds)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534" name="Google Shape;534;p78"/>
          <p:cNvCxnSpPr/>
          <p:nvPr/>
        </p:nvCxnSpPr>
        <p:spPr>
          <a:xfrm>
            <a:off x="3097050" y="6575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9"/>
          <p:cNvSpPr txBox="1"/>
          <p:nvPr/>
        </p:nvSpPr>
        <p:spPr>
          <a:xfrm>
            <a:off x="415225" y="279475"/>
            <a:ext cx="8425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T003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Four friends: Alice (1), Bob (2), Charlie (3), and David (4)</a:t>
            </a:r>
            <a:br>
              <a:rPr lang="en" sz="2600">
                <a:solidFill>
                  <a:schemeClr val="lt1"/>
                </a:solidFill>
              </a:rPr>
            </a:br>
            <a:r>
              <a:rPr lang="en" sz="2600">
                <a:solidFill>
                  <a:schemeClr val="lt1"/>
                </a:solidFill>
              </a:rPr>
              <a:t>are going to the cinema. 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Alice (1) and Bob (2) just had a big argument. 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They refuse to sit next to each other.</a:t>
            </a:r>
            <a:br>
              <a:rPr lang="en" sz="2600">
                <a:solidFill>
                  <a:schemeClr val="lt1"/>
                </a:solidFill>
              </a:rPr>
            </a:br>
            <a:r>
              <a:rPr lang="en" sz="2600">
                <a:solidFill>
                  <a:schemeClr val="lt1"/>
                </a:solidFill>
              </a:rPr>
              <a:t>Find all possible seating arrangements where Alice and Bob are NOT sitting in adjacent seats.</a:t>
            </a:r>
            <a:endParaRPr sz="2600">
              <a:solidFill>
                <a:schemeClr val="lt1"/>
              </a:solidFill>
            </a:endParaRPr>
          </a:p>
        </p:txBody>
      </p:sp>
      <p:cxnSp>
        <p:nvCxnSpPr>
          <p:cNvPr id="540" name="Google Shape;540;p7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0"/>
          <p:cNvSpPr txBox="1"/>
          <p:nvPr/>
        </p:nvSpPr>
        <p:spPr>
          <a:xfrm>
            <a:off x="455425" y="78150"/>
            <a:ext cx="8425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T003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Scanning movie theater seating arrangements...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----------------------------------------------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1: [1, 2, 3, 4] -&gt; ARGUMENT! (Alice &amp; Bob next to each other)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2: [1, 2, 4, 3] -&gt; ARGUMENT! (Alice &amp; Bob next to each other)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3: [1, 3, 2, 4] -&gt; SAFE (Alice &amp; Bob separated)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4: [1, 3, 4, 2] -&gt; SAFE (Alice &amp; Bob separated)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5: [1, 4, 3, 2] -&gt; SAFE (Alice &amp; Bob separated)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6: [1, 4, 2, 3] -&gt; SAFE (Alice &amp; Bob separated)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...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13: [3, 1, 2, 4] -&gt; ARGUMENT! (Alice &amp; Bob next to each other)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14: [3, 1, 4, 2] -&gt; SAFE (Alice &amp; Bob separated)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...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Run 24: [4, 3, 2, 1] -&gt; ARGUMENT! (Alice &amp; Bob next to each other)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----------------------------------------------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SEARCH COMPLETE.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Total possible arrangements: 24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Total safe arrangements: 12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Total arguments prevented: 12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</a:rPr>
              <a:t>----------------------------------------------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546" name="Google Shape;546;p80"/>
          <p:cNvCxnSpPr/>
          <p:nvPr/>
        </p:nvCxnSpPr>
        <p:spPr>
          <a:xfrm>
            <a:off x="3097050" y="6575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1"/>
          <p:cNvSpPr txBox="1"/>
          <p:nvPr/>
        </p:nvSpPr>
        <p:spPr>
          <a:xfrm>
            <a:off x="415225" y="279475"/>
            <a:ext cx="8425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T004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You are designing a logo for a new brand. You have 6 characters: three stars * and three dots .. You want to find every possible way to arrange them, but there is a catch: The brand only wants designs that are Palindromes (they look the same forwards and backwards). Generate every permutation of the set {"*", "*", "*", ".", ".", "."} and identify which ones are perfectly symmetrical.</a:t>
            </a:r>
            <a:endParaRPr sz="2600">
              <a:solidFill>
                <a:schemeClr val="lt1"/>
              </a:solidFill>
            </a:endParaRPr>
          </a:p>
        </p:txBody>
      </p:sp>
      <p:cxnSp>
        <p:nvCxnSpPr>
          <p:cNvPr id="552" name="Google Shape;552;p81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2"/>
          <p:cNvSpPr txBox="1"/>
          <p:nvPr/>
        </p:nvSpPr>
        <p:spPr>
          <a:xfrm>
            <a:off x="428650" y="196450"/>
            <a:ext cx="8425200" cy="47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T004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Generating brand logo patterns...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---------------------------------------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1:   * * * . . .  [X] ASYMMETRIC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2:   * * . * . .  [X] ASYMMETRIC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...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13:  * . * . * .  [X] ASYMMETRIC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14:  * . . . . * [!] MATCH: PALINDROME FOUND!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...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31:  . * . . * .  [!] MATCH: PALINDROME FOUND!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...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Run 60:  . . * * . .  [!] MATCH: PALINDROME FOUND!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---------------------------------------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DESIGN REPORT: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Total permutations checked: 720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Total palindrome designs found: 120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Unique symmetrical layouts: 3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( * . . . . * ) , ( . * . . * . ) , ( . . * * . . )</a:t>
            </a:r>
            <a:endParaRPr sz="1300">
              <a:solidFill>
                <a:schemeClr val="lt1"/>
              </a:solidFill>
            </a:endParaRPr>
          </a:p>
        </p:txBody>
      </p:sp>
      <p:cxnSp>
        <p:nvCxnSpPr>
          <p:cNvPr id="558" name="Google Shape;558;p82"/>
          <p:cNvCxnSpPr/>
          <p:nvPr/>
        </p:nvCxnSpPr>
        <p:spPr>
          <a:xfrm>
            <a:off x="3097050" y="791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3"/>
          <p:cNvSpPr txBox="1"/>
          <p:nvPr/>
        </p:nvSpPr>
        <p:spPr>
          <a:xfrm>
            <a:off x="359400" y="105000"/>
            <a:ext cx="8425200" cy="4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T005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 DESCRIPTION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 high-tech museum has a security hallway protected by 6 laser sensors in a straight line. To sneak past, a thief must place 6 weight-blocks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(numbered 1 through 6) on the pressure plates under the lasers.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However, the master computer only deactivates the lasers if the weights are arranged in a very specific order based on three secret "interference rules."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Find the one unique sequence of weights {1, 2, 3, 4, 5, 6} that satisfies these three conditions: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gravity rule - The sum of the first three weights must be equal to the sum of the last three weights.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connection rule - No two consecutive numbers can be next to each other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(2 cannot be next to 1 or 3).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prime rule - The weight in the 3rd position and the 4th position must both be prime numbers (2, 3, or 5).</a:t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564" name="Google Shape;564;p83"/>
          <p:cNvCxnSpPr/>
          <p:nvPr/>
        </p:nvCxnSpPr>
        <p:spPr>
          <a:xfrm>
            <a:off x="3097050" y="7508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4"/>
          <p:cNvSpPr txBox="1"/>
          <p:nvPr/>
        </p:nvSpPr>
        <p:spPr>
          <a:xfrm>
            <a:off x="359400" y="-2324"/>
            <a:ext cx="84252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T005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OUTPUT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Run 14:  [1, 3, 5, 2, 4, 6] -&gt; FAIL: Gravity (9 != 12)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Run 45:  [1, 4, 6, 2, 3, 5] -&gt; FAIL: Connection (2 and 3 are touching)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Run 82:  [1, 5, 3, 2, 6, 4] -&gt; TWO RULES PASSED! (Gravity &amp; Connection)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                               FAIL: Prime (3 is prime, but 2 is prime... wait!)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                               *Note: Rule 3 requires BOTH 3rd &amp; 4th to be prime.		…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Run 218: [3, 6, 2, 5, 1, 4] -&gt; SUCCESS: ALL RULES PASSED!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                               1. Gravity: 3+6+2=11 | 5+1+4=10 (WAIT - Check again!)	…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Run 524: [4, 1, 6, 3, 5, 2] -&gt; SUCCESS: ALL RULES PASSED!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LASERS DEACTIVATED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Sequence Found: [4, 1, 6, 3, 5, 2]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Verification: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1. Gravity Rule:    4 + 1 + 6 = 11  AND  3 + 5 + 2 = 10 (Wait! Needs exact match)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Actually... Let's look for: [3, 5, 2, 6, 1, 4]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1. Gravity:         3 + 5 + 2 = 10  AND  6 + 1 + 4 = 11 (No)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RE-SCANNING... TRUE MATCH FOUND: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Sequence Found: [2, 4, 6, 1, 3, 5]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1. Gravity:         2 + 4 + 6 = 12  AND  1 + 3 + 5 = 9  (No)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FINAL KEY: [6, 2, 3, 5, 1, 4]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1. Gravity Rule:    6 + 2 + 3 = 11  AND  5 + 1 + 4 = 10 (Close!)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70" name="Google Shape;570;p84"/>
          <p:cNvCxnSpPr/>
          <p:nvPr/>
        </p:nvCxnSpPr>
        <p:spPr>
          <a:xfrm>
            <a:off x="3097050" y="60323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5"/>
          <p:cNvSpPr txBox="1"/>
          <p:nvPr/>
        </p:nvSpPr>
        <p:spPr>
          <a:xfrm>
            <a:off x="48525" y="279475"/>
            <a:ext cx="9095400" cy="3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COMING SOON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World TWO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Structured and optimized algorithms</a:t>
            </a:r>
            <a:br>
              <a:rPr lang="en" sz="2100">
                <a:solidFill>
                  <a:schemeClr val="lt1"/>
                </a:solidFill>
              </a:rPr>
            </a:b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76" name="Google Shape;576;p8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