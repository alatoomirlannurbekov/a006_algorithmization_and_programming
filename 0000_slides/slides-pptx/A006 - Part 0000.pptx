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DM Sans Medium"/>
      <p:regular r:id="rId37"/>
      <p:bold r:id="rId38"/>
      <p:italic r:id="rId39"/>
      <p:boldItalic r:id="rId40"/>
    </p:embeddedFont>
    <p:embeddedFont>
      <p:font typeface="Caveat"/>
      <p:regular r:id="rId41"/>
      <p:bold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Merriweather"/>
      <p:regular r:id="rId47"/>
      <p:bold r:id="rId48"/>
      <p:italic r:id="rId49"/>
      <p:boldItalic r:id="rId50"/>
    </p:embeddedFont>
    <p:embeddedFont>
      <p:font typeface="DM Sans"/>
      <p:regular r:id="rId51"/>
      <p:bold r:id="rId52"/>
      <p:italic r:id="rId53"/>
      <p:boldItalic r:id="rId54"/>
    </p:embeddedFont>
    <p:embeddedFont>
      <p:font typeface="Open Sans Light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Medium-boldItalic.fntdata"/><Relationship Id="rId42" Type="http://schemas.openxmlformats.org/officeDocument/2006/relationships/font" Target="fonts/Caveat-bold.fntdata"/><Relationship Id="rId41" Type="http://schemas.openxmlformats.org/officeDocument/2006/relationships/font" Target="fonts/Caveat-regular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Merriweather-bold.fntdata"/><Relationship Id="rId47" Type="http://schemas.openxmlformats.org/officeDocument/2006/relationships/font" Target="fonts/Merriweather-regular.fntdata"/><Relationship Id="rId49" Type="http://schemas.openxmlformats.org/officeDocument/2006/relationships/font" Target="fonts/Merriweather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DMSansMedium-regular.fntdata"/><Relationship Id="rId36" Type="http://schemas.openxmlformats.org/officeDocument/2006/relationships/slide" Target="slides/slide30.xml"/><Relationship Id="rId39" Type="http://schemas.openxmlformats.org/officeDocument/2006/relationships/font" Target="fonts/DMSansMedium-italic.fntdata"/><Relationship Id="rId38" Type="http://schemas.openxmlformats.org/officeDocument/2006/relationships/font" Target="fonts/DMSansMedium-bold.fntdata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-regular.fntdata"/><Relationship Id="rId50" Type="http://schemas.openxmlformats.org/officeDocument/2006/relationships/font" Target="fonts/Merriweather-boldItalic.fntdata"/><Relationship Id="rId53" Type="http://schemas.openxmlformats.org/officeDocument/2006/relationships/font" Target="fonts/DMSans-italic.fntdata"/><Relationship Id="rId52" Type="http://schemas.openxmlformats.org/officeDocument/2006/relationships/font" Target="fonts/DMSans-bold.fntdata"/><Relationship Id="rId11" Type="http://schemas.openxmlformats.org/officeDocument/2006/relationships/slide" Target="slides/slide5.xml"/><Relationship Id="rId55" Type="http://schemas.openxmlformats.org/officeDocument/2006/relationships/font" Target="fonts/OpenSansLight-regular.fntdata"/><Relationship Id="rId10" Type="http://schemas.openxmlformats.org/officeDocument/2006/relationships/slide" Target="slides/slide4.xml"/><Relationship Id="rId54" Type="http://schemas.openxmlformats.org/officeDocument/2006/relationships/font" Target="fonts/DMSans-boldItalic.fntdata"/><Relationship Id="rId13" Type="http://schemas.openxmlformats.org/officeDocument/2006/relationships/slide" Target="slides/slide7.xml"/><Relationship Id="rId57" Type="http://schemas.openxmlformats.org/officeDocument/2006/relationships/font" Target="fonts/OpenSansLight-italic.fntdata"/><Relationship Id="rId12" Type="http://schemas.openxmlformats.org/officeDocument/2006/relationships/slide" Target="slides/slide6.xml"/><Relationship Id="rId56" Type="http://schemas.openxmlformats.org/officeDocument/2006/relationships/font" Target="fonts/OpenSansLight-bold.fntdata"/><Relationship Id="rId15" Type="http://schemas.openxmlformats.org/officeDocument/2006/relationships/slide" Target="slides/slide9.xml"/><Relationship Id="rId59" Type="http://schemas.openxmlformats.org/officeDocument/2006/relationships/font" Target="fonts/OpenSans-regular.fntdata"/><Relationship Id="rId14" Type="http://schemas.openxmlformats.org/officeDocument/2006/relationships/slide" Target="slides/slide8.xml"/><Relationship Id="rId58" Type="http://schemas.openxmlformats.org/officeDocument/2006/relationships/font" Target="fonts/OpenSans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92dd43d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92dd43d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9df229e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b9df229e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b6030229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bb6030229e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b6030229e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bb6030229e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b6030229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b6030229e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b6030229e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bb6030229e_0_4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b6030229e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bb6030229e_0_6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b6030229e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bb6030229e_0_6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b6030229e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bb6030229e_0_8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b6030229e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bb6030229e_0_9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b6030229e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b6030229e_0_9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b6030229e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bb6030229e_0_9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b6030229e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bb6030229e_0_9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b6030229e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bb6030229e_0_9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b6030229e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bb6030229e_0_9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b6030229e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bb6030229e_0_9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b6030229e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bb6030229e_0_9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b6030229e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bb6030229e_0_9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b6030229e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bb6030229e_0_9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b6030229e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bb6030229e_0_9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b6030229e_0_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bb6030229e_0_9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b6030229e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bb6030229e_0_10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b6030229e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bb6030229e_0_9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b6030229e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bb6030229e_0_10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b6030229e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bb6030229e_0_10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b6030229e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bb6030229e_0_10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b6030229e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bb6030229e_0_1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b6030229e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bb6030229e_0_10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1fb755c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c1fb755ce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180225"/>
            <a:ext cx="8575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ALGORITHMIZATION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AND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PROGRAMMING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0075E8"/>
                </a:solidFill>
                <a:latin typeface="Verdana"/>
                <a:ea typeface="Verdana"/>
                <a:cs typeface="Verdana"/>
                <a:sym typeface="Verdana"/>
              </a:rPr>
              <a:t>PART II</a:t>
            </a:r>
            <a:endParaRPr sz="3900">
              <a:solidFill>
                <a:srgbClr val="0075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 flipH="1" rot="10800000">
            <a:off x="3194400" y="4352257"/>
            <a:ext cx="2755200" cy="2400"/>
          </a:xfrm>
          <a:prstGeom prst="straightConnector1">
            <a:avLst/>
          </a:prstGeom>
          <a:noFill/>
          <a:ln cap="flat" cmpd="sng" w="38100">
            <a:solidFill>
              <a:srgbClr val="0077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05150" y="4614766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Semester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5" title="WhatsApp Image 2026-01-20 at 22.46.5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14300" y="1388777"/>
            <a:ext cx="3286200" cy="3199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73" name="Google Shape;273;p45"/>
          <p:cNvSpPr txBox="1"/>
          <p:nvPr/>
        </p:nvSpPr>
        <p:spPr>
          <a:xfrm>
            <a:off x="666750" y="476250"/>
            <a:ext cx="802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Font typeface="Arial"/>
              <a:buNone/>
            </a:pPr>
            <a:r>
              <a:rPr b="1" lang="en" sz="3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Lecturer</a:t>
            </a:r>
            <a:endParaRPr/>
          </a:p>
        </p:txBody>
      </p:sp>
      <p:sp>
        <p:nvSpPr>
          <p:cNvPr id="274" name="Google Shape;274;p45"/>
          <p:cNvSpPr/>
          <p:nvPr/>
        </p:nvSpPr>
        <p:spPr>
          <a:xfrm>
            <a:off x="476250" y="476250"/>
            <a:ext cx="57300" cy="55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5"/>
          <p:cNvSpPr txBox="1"/>
          <p:nvPr/>
        </p:nvSpPr>
        <p:spPr>
          <a:xfrm>
            <a:off x="3811225" y="2297325"/>
            <a:ext cx="482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A5B4FC"/>
                </a:solidFill>
                <a:latin typeface="Montserrat"/>
                <a:ea typeface="Montserrat"/>
                <a:cs typeface="Montserrat"/>
                <a:sym typeface="Montserrat"/>
              </a:rPr>
              <a:t>Nurbekov Mirlan</a:t>
            </a:r>
            <a:endParaRPr/>
          </a:p>
        </p:txBody>
      </p:sp>
      <p:sp>
        <p:nvSpPr>
          <p:cNvPr id="276" name="Google Shape;276;p45"/>
          <p:cNvSpPr txBox="1"/>
          <p:nvPr/>
        </p:nvSpPr>
        <p:spPr>
          <a:xfrm>
            <a:off x="3811225" y="2811675"/>
            <a:ext cx="459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Office: H 20</a:t>
            </a:r>
            <a:r>
              <a:rPr lang="en" sz="150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/>
          </a:p>
        </p:txBody>
      </p:sp>
      <p:sp>
        <p:nvSpPr>
          <p:cNvPr id="277" name="Google Shape;277;p45"/>
          <p:cNvSpPr txBox="1"/>
          <p:nvPr/>
        </p:nvSpPr>
        <p:spPr>
          <a:xfrm>
            <a:off x="3811225" y="3306975"/>
            <a:ext cx="512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Monday–Friday, 08:00–17:00</a:t>
            </a:r>
            <a:endParaRPr/>
          </a:p>
        </p:txBody>
      </p:sp>
      <p:sp>
        <p:nvSpPr>
          <p:cNvPr id="278" name="Google Shape;278;p45"/>
          <p:cNvSpPr txBox="1"/>
          <p:nvPr/>
        </p:nvSpPr>
        <p:spPr>
          <a:xfrm>
            <a:off x="3811225" y="3802275"/>
            <a:ext cx="459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mirlan.nurbekov@alatoo.edu.kg</a:t>
            </a:r>
            <a:endParaRPr/>
          </a:p>
        </p:txBody>
      </p:sp>
      <p:pic>
        <p:nvPicPr>
          <p:cNvPr descr="image.png" id="279" name="Google Shape;27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1225" y="2765625"/>
            <a:ext cx="460925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1225" y="3289496"/>
            <a:ext cx="398950" cy="265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45"/>
          <p:cNvPicPr preferRelativeResize="0"/>
          <p:nvPr/>
        </p:nvPicPr>
        <p:blipFill rotWithShape="1">
          <a:blip r:embed="rId6">
            <a:alphaModFix/>
          </a:blip>
          <a:srcRect b="0" l="0" r="27588" t="0"/>
          <a:stretch/>
        </p:blipFill>
        <p:spPr>
          <a:xfrm>
            <a:off x="3811225" y="3802300"/>
            <a:ext cx="250889" cy="23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45"/>
          <p:cNvCxnSpPr/>
          <p:nvPr/>
        </p:nvCxnSpPr>
        <p:spPr>
          <a:xfrm flipH="1" rot="10800000">
            <a:off x="3811225" y="2097925"/>
            <a:ext cx="4612200" cy="300"/>
          </a:xfrm>
          <a:prstGeom prst="straightConnector1">
            <a:avLst/>
          </a:prstGeom>
          <a:noFill/>
          <a:ln cap="flat" cmpd="sng" w="38100">
            <a:solidFill>
              <a:srgbClr val="F3F0D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3" name="Google Shape;283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1553" y="250450"/>
            <a:ext cx="2421872" cy="185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43187" y="196450"/>
            <a:ext cx="2202924" cy="220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/>
        </p:nvSpPr>
        <p:spPr>
          <a:xfrm>
            <a:off x="493450" y="1262250"/>
            <a:ext cx="83661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Bad programmers worry about the code. Good programmers worry about data structures and their relationships.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76200" lvl="0" marL="4953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— Linus Torvalds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46"/>
          <p:cNvSpPr txBox="1"/>
          <p:nvPr/>
        </p:nvSpPr>
        <p:spPr>
          <a:xfrm>
            <a:off x="580525" y="939450"/>
            <a:ext cx="8366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2004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/>
        </p:nvSpPr>
        <p:spPr>
          <a:xfrm>
            <a:off x="441450" y="279475"/>
            <a:ext cx="8261100" cy="3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	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GRADE CALCULATION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MIDTERM ASSESSMENT + FINAL ASSESSMENT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Final Grade = Midterm Assessment (40%) + Final Project (60%)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– – – 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Midterm Assessment = accumulated score (attendance + progress + test)</a:t>
            </a:r>
            <a:endParaRPr sz="16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Final Project = individual project evaluation</a:t>
            </a:r>
            <a:endParaRPr sz="16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6" name="Google Shape;296;p47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/>
        </p:nvSpPr>
        <p:spPr>
          <a:xfrm>
            <a:off x="63900" y="251700"/>
            <a:ext cx="90801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MIDTERM ASSESSMENT BREAKDOWN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 				100 POINTS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	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10</a:t>
            </a:r>
            <a:r>
              <a:rPr b="1" lang="en" sz="1500">
                <a:solidFill>
                  <a:schemeClr val="lt1"/>
                </a:solidFill>
              </a:rPr>
              <a:t>%</a:t>
            </a:r>
            <a:r>
              <a:rPr lang="en" sz="1900">
                <a:solidFill>
                  <a:schemeClr val="lt1"/>
                </a:solidFill>
              </a:rPr>
              <a:t> - attendance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10</a:t>
            </a:r>
            <a:r>
              <a:rPr b="1" lang="en" sz="1500">
                <a:solidFill>
                  <a:schemeClr val="lt1"/>
                </a:solidFill>
              </a:rPr>
              <a:t>%</a:t>
            </a:r>
            <a:r>
              <a:rPr lang="en" sz="1900">
                <a:solidFill>
                  <a:schemeClr val="lt1"/>
                </a:solidFill>
              </a:rPr>
              <a:t> - active participation in discussions and in-class exercises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20</a:t>
            </a:r>
            <a:r>
              <a:rPr b="1" lang="en" sz="1500">
                <a:solidFill>
                  <a:schemeClr val="lt1"/>
                </a:solidFill>
              </a:rPr>
              <a:t>%</a:t>
            </a:r>
            <a:r>
              <a:rPr b="1" lang="en" sz="1900">
                <a:solidFill>
                  <a:schemeClr val="lt1"/>
                </a:solidFill>
              </a:rPr>
              <a:t> </a:t>
            </a:r>
            <a:r>
              <a:rPr lang="en" sz="1900">
                <a:solidFill>
                  <a:schemeClr val="lt1"/>
                </a:solidFill>
              </a:rPr>
              <a:t>- weekly project progress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60</a:t>
            </a:r>
            <a:r>
              <a:rPr b="1" lang="en" sz="1500">
                <a:solidFill>
                  <a:schemeClr val="lt1"/>
                </a:solidFill>
              </a:rPr>
              <a:t>%</a:t>
            </a:r>
            <a:r>
              <a:rPr b="1" lang="en" sz="1900">
                <a:solidFill>
                  <a:schemeClr val="lt1"/>
                </a:solidFill>
              </a:rPr>
              <a:t> </a:t>
            </a:r>
            <a:r>
              <a:rPr lang="en" sz="1900">
                <a:solidFill>
                  <a:schemeClr val="lt1"/>
                </a:solidFill>
              </a:rPr>
              <a:t>- online test (openbook)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2" name="Google Shape;302;p48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/>
        </p:nvSpPr>
        <p:spPr>
          <a:xfrm>
            <a:off x="441450" y="242450"/>
            <a:ext cx="82611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		 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ASSESSMENT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 			100 POINTS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</a:rPr>
              <a:t>ONLINE EXAMINATION</a:t>
            </a:r>
            <a:r>
              <a:rPr b="1" lang="en" sz="2600">
                <a:solidFill>
                  <a:schemeClr val="lt1"/>
                </a:solidFill>
              </a:rPr>
              <a:t> </a:t>
            </a:r>
            <a:endParaRPr b="1" sz="2600">
              <a:solidFill>
                <a:schemeClr val="lt1"/>
              </a:solidFill>
            </a:endParaRPr>
          </a:p>
        </p:txBody>
      </p:sp>
      <p:cxnSp>
        <p:nvCxnSpPr>
          <p:cNvPr id="308" name="Google Shape;308;p49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/>
        </p:nvSpPr>
        <p:spPr>
          <a:xfrm>
            <a:off x="48525" y="279475"/>
            <a:ext cx="9095400" cy="21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CODE TO ALGORITHMIC THINKING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		       THINKING OVER CODING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4" name="Google Shape;314;p50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50"/>
          <p:cNvSpPr txBox="1"/>
          <p:nvPr/>
        </p:nvSpPr>
        <p:spPr>
          <a:xfrm>
            <a:off x="541575" y="1948350"/>
            <a:ext cx="810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TWO PROGRAMS GIVE THE SAME CORRECT OUTPUT, ARE THEY EQUALLY GOOD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316" name="Google Shape;31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088" y="2816375"/>
            <a:ext cx="1752025" cy="175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/>
        </p:nvSpPr>
        <p:spPr>
          <a:xfrm>
            <a:off x="48525" y="279475"/>
            <a:ext cx="90954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		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INDUSTRY ANSWER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	    CORRECTNESS IS ONLY THE MINIMUM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Correct code can still be: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too slow </a:t>
            </a:r>
            <a:r>
              <a:rPr b="1" lang="en" sz="1800">
                <a:solidFill>
                  <a:schemeClr val="lt1"/>
                </a:solidFill>
              </a:rPr>
              <a:t>AND/OR</a:t>
            </a:r>
            <a:r>
              <a:rPr lang="en" sz="1800">
                <a:solidFill>
                  <a:schemeClr val="lt1"/>
                </a:solidFill>
              </a:rPr>
              <a:t> too memory-hungry </a:t>
            </a:r>
            <a:r>
              <a:rPr b="1" lang="en" sz="1800">
                <a:solidFill>
                  <a:schemeClr val="lt1"/>
                </a:solidFill>
              </a:rPr>
              <a:t>AND/OR </a:t>
            </a:r>
            <a:r>
              <a:rPr lang="en" sz="1800">
                <a:solidFill>
                  <a:schemeClr val="lt1"/>
                </a:solidFill>
              </a:rPr>
              <a:t>Impossible to scale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Industry rewards </a:t>
            </a:r>
            <a:r>
              <a:rPr b="1" lang="en" sz="1800">
                <a:solidFill>
                  <a:schemeClr val="lt1"/>
                </a:solidFill>
              </a:rPr>
              <a:t>SURVIVABLE </a:t>
            </a:r>
            <a:r>
              <a:rPr lang="en" sz="1800">
                <a:solidFill>
                  <a:schemeClr val="lt1"/>
                </a:solidFill>
              </a:rPr>
              <a:t>solutions, not just correct ones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2" name="Google Shape;322;p51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2"/>
          <p:cNvSpPr txBox="1"/>
          <p:nvPr/>
        </p:nvSpPr>
        <p:spPr>
          <a:xfrm>
            <a:off x="48525" y="279475"/>
            <a:ext cx="9095400" cy="46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	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AN ALGORITHM REALLY IS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	         A STRATEGY UNDER CONSTRAINTS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An algorithm is not just code, it is a decision process</a:t>
            </a:r>
            <a:endParaRPr sz="1800">
              <a:solidFill>
                <a:schemeClr val="lt1"/>
              </a:solidFill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Decisions are limited by:	Worst-case risk</a:t>
            </a:r>
            <a:endParaRPr sz="1800">
              <a:solidFill>
                <a:schemeClr val="lt1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Time</a:t>
            </a:r>
            <a:endParaRPr sz="1800">
              <a:solidFill>
                <a:schemeClr val="lt1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Memory</a:t>
            </a:r>
            <a:endParaRPr sz="1800">
              <a:solidFill>
                <a:schemeClr val="lt1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Input size</a:t>
            </a:r>
            <a:endParaRPr sz="1800">
              <a:solidFill>
                <a:schemeClr val="lt1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Reliability</a:t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8" name="Google Shape;328;p52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3"/>
          <p:cNvSpPr txBox="1"/>
          <p:nvPr/>
        </p:nvSpPr>
        <p:spPr>
          <a:xfrm>
            <a:off x="48525" y="279475"/>
            <a:ext cx="9095400" cy="46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	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	SCALE CHANGES EVERYTHING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	         			 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</a:t>
            </a:r>
            <a:r>
              <a:rPr lang="en" sz="1800">
                <a:solidFill>
                  <a:schemeClr val="lt1"/>
                </a:solidFill>
              </a:rPr>
              <a:t>nput size matters more than code style</a:t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Algorithms fail when assumptions fail</a:t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Most bugs appear only at scale</a:t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4" name="Google Shape;334;p53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4"/>
          <p:cNvSpPr txBox="1"/>
          <p:nvPr/>
        </p:nvSpPr>
        <p:spPr>
          <a:xfrm>
            <a:off x="48525" y="279475"/>
            <a:ext cx="9095400" cy="4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	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THREE ALGORITHMIC WORLDS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DIFFERENT STRATEGIES FOR DIFFERENT REALITIES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619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" sz="2100">
                <a:solidFill>
                  <a:schemeClr val="lt1"/>
                </a:solidFill>
              </a:rPr>
              <a:t>1  -  </a:t>
            </a:r>
            <a:r>
              <a:rPr lang="en" sz="2100">
                <a:solidFill>
                  <a:schemeClr val="lt1"/>
                </a:solidFill>
              </a:rPr>
              <a:t>Simple and exhaustive</a:t>
            </a:r>
            <a:br>
              <a:rPr lang="en" sz="2100">
                <a:solidFill>
                  <a:schemeClr val="lt1"/>
                </a:solidFill>
              </a:rPr>
            </a:br>
            <a:endParaRPr sz="2100">
              <a:solidFill>
                <a:schemeClr val="lt1"/>
              </a:solidFill>
            </a:endParaRPr>
          </a:p>
          <a:p>
            <a:pPr indent="-3619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" sz="2100">
                <a:solidFill>
                  <a:schemeClr val="lt1"/>
                </a:solidFill>
              </a:rPr>
              <a:t>2  -  Structured and optimized</a:t>
            </a:r>
            <a:br>
              <a:rPr lang="en" sz="2100">
                <a:solidFill>
                  <a:schemeClr val="lt1"/>
                </a:solidFill>
              </a:rPr>
            </a:br>
            <a:endParaRPr sz="2100">
              <a:solidFill>
                <a:schemeClr val="lt1"/>
              </a:solidFill>
            </a:endParaRPr>
          </a:p>
          <a:p>
            <a:pPr indent="-3619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-"/>
            </a:pPr>
            <a:r>
              <a:rPr lang="en" sz="2100">
                <a:solidFill>
                  <a:schemeClr val="lt1"/>
                </a:solidFill>
              </a:rPr>
              <a:t>3  -  Fast but approximate</a:t>
            </a:r>
            <a:endParaRPr sz="21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0" name="Google Shape;340;p54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5"/>
          <p:cNvSpPr txBox="1"/>
          <p:nvPr/>
        </p:nvSpPr>
        <p:spPr>
          <a:xfrm>
            <a:off x="48525" y="279475"/>
            <a:ext cx="9095400" cy="4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	  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BRUTE-FORCE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	   SIMPLE AND RELIABLE BUT EXHAUSTIVE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idea is to </a:t>
            </a:r>
            <a:r>
              <a:rPr lang="en" sz="1800">
                <a:solidFill>
                  <a:schemeClr val="lt1"/>
                </a:solidFill>
              </a:rPr>
              <a:t>t</a:t>
            </a:r>
            <a:r>
              <a:rPr lang="en" sz="1800">
                <a:solidFill>
                  <a:schemeClr val="lt1"/>
                </a:solidFill>
              </a:rPr>
              <a:t>ry every possibility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			Easy to implement</a:t>
            </a:r>
            <a:endParaRPr sz="1800">
              <a:solidFill>
                <a:schemeClr val="lt1"/>
              </a:solidFill>
            </a:endParaRPr>
          </a:p>
          <a:p>
            <a:pPr indent="4572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Easy to understand</a:t>
            </a:r>
            <a:endParaRPr sz="1800">
              <a:solidFill>
                <a:schemeClr val="lt1"/>
              </a:solidFill>
            </a:endParaRPr>
          </a:p>
          <a:p>
            <a:pPr indent="4572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Performance collapses as data grows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Used for: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Small inputs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Prototypes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Learning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6" name="Google Shape;346;p55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6"/>
          <p:cNvSpPr txBox="1"/>
          <p:nvPr/>
        </p:nvSpPr>
        <p:spPr>
          <a:xfrm>
            <a:off x="309000" y="279475"/>
            <a:ext cx="8373000" cy="4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BRUTE-FORCE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Linear Search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Naive String Matching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Exhaustive Subset Search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Brute-force Password Cracking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2" name="Google Shape;352;p56"/>
          <p:cNvCxnSpPr/>
          <p:nvPr/>
        </p:nvCxnSpPr>
        <p:spPr>
          <a:xfrm>
            <a:off x="3121275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7"/>
          <p:cNvSpPr txBox="1"/>
          <p:nvPr/>
        </p:nvSpPr>
        <p:spPr>
          <a:xfrm>
            <a:off x="309000" y="279475"/>
            <a:ext cx="8373000" cy="4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BRUTE-FORCE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CHARACTERISTICS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Simple logic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Easy to implement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No assumptions about data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Performance degrades rapidly with scale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8" name="Google Shape;358;p57"/>
          <p:cNvCxnSpPr/>
          <p:nvPr/>
        </p:nvCxnSpPr>
        <p:spPr>
          <a:xfrm>
            <a:off x="3121275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8"/>
          <p:cNvSpPr txBox="1"/>
          <p:nvPr/>
        </p:nvSpPr>
        <p:spPr>
          <a:xfrm>
            <a:off x="309000" y="279475"/>
            <a:ext cx="8373000" cy="45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BRUTE-FORCE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THE REAL WORLD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Password strength checkers (short passwords)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Input validation for small datasets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Game AI at low difficulty levels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Early-stage prototypes and MVPs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4" name="Google Shape;364;p58"/>
          <p:cNvCxnSpPr/>
          <p:nvPr/>
        </p:nvCxnSpPr>
        <p:spPr>
          <a:xfrm>
            <a:off x="3121275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9"/>
          <p:cNvSpPr txBox="1"/>
          <p:nvPr/>
        </p:nvSpPr>
        <p:spPr>
          <a:xfrm>
            <a:off x="48525" y="279475"/>
            <a:ext cx="9095400" cy="3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AND OPTIMIZED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FAST BECAUSE THEY USE ORDER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It u</a:t>
            </a:r>
            <a:r>
              <a:rPr lang="en" sz="1800">
                <a:solidFill>
                  <a:schemeClr val="lt1"/>
                </a:solidFill>
              </a:rPr>
              <a:t>ses structure in data (require preparation)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Much better scalability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But very complex to design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Used for: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Large datasets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Databases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Search systems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0" name="Google Shape;370;p59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0"/>
          <p:cNvSpPr txBox="1"/>
          <p:nvPr/>
        </p:nvSpPr>
        <p:spPr>
          <a:xfrm>
            <a:off x="48525" y="279475"/>
            <a:ext cx="9095400" cy="3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AND OPTIMIZED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Binary Search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Merge Sort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Quick Sort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Tree Traversals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Hash-based Lookup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376" name="Google Shape;376;p60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1"/>
          <p:cNvSpPr txBox="1"/>
          <p:nvPr/>
        </p:nvSpPr>
        <p:spPr>
          <a:xfrm>
            <a:off x="48525" y="279475"/>
            <a:ext cx="90954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AND OPTIMIZED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CHARACTERISTICS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Require ordered or structured data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Much better scalability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Slightly harder to design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Core of high-performance systems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382" name="Google Shape;382;p61"/>
          <p:cNvCxnSpPr/>
          <p:nvPr/>
        </p:nvCxnSpPr>
        <p:spPr>
          <a:xfrm flipH="1" rot="10800000">
            <a:off x="2969925" y="1116450"/>
            <a:ext cx="3252600" cy="96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"/>
          <p:cNvSpPr txBox="1"/>
          <p:nvPr/>
        </p:nvSpPr>
        <p:spPr>
          <a:xfrm>
            <a:off x="48525" y="279475"/>
            <a:ext cx="90954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AND OPTIMIZED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THE REAL WORLD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Database indexing (B-Trees, Hash Indexes)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File systems (directory trees)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Search engines (sorted indexes)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In-memory caches (HashMaps)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388" name="Google Shape;388;p62"/>
          <p:cNvCxnSpPr/>
          <p:nvPr/>
        </p:nvCxnSpPr>
        <p:spPr>
          <a:xfrm flipH="1" rot="10800000">
            <a:off x="2969925" y="1116450"/>
            <a:ext cx="3252600" cy="96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/>
        </p:nvSpPr>
        <p:spPr>
          <a:xfrm>
            <a:off x="48525" y="279475"/>
            <a:ext cx="9095400" cy="4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HEURISTIC AND GREEDY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FAST BUT NOT ALWAYS PERFECT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idea is on making local decisions. Often “good enough” for most cases, cuz it is </a:t>
            </a:r>
            <a:r>
              <a:rPr lang="en" sz="1800">
                <a:solidFill>
                  <a:schemeClr val="lt1"/>
                </a:solidFill>
              </a:rPr>
              <a:t>extremely</a:t>
            </a:r>
            <a:r>
              <a:rPr lang="en" sz="1800">
                <a:solidFill>
                  <a:schemeClr val="lt1"/>
                </a:solidFill>
              </a:rPr>
              <a:t> fast but not guaranteed optimal performance.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Used for: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Real-time systems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Navigation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Scheduling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Recommendations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4" name="Google Shape;394;p63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4"/>
          <p:cNvSpPr txBox="1"/>
          <p:nvPr/>
        </p:nvSpPr>
        <p:spPr>
          <a:xfrm>
            <a:off x="48525" y="279475"/>
            <a:ext cx="9095400" cy="47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HEURISTIC AND GREEDY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Greedy Scheduling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Huffman Coding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Nearest Neighbor Search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Heuristic Pathfinding</a:t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0" name="Google Shape;400;p64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"/>
          <p:cNvSpPr txBox="1"/>
          <p:nvPr/>
        </p:nvSpPr>
        <p:spPr>
          <a:xfrm>
            <a:off x="48525" y="279475"/>
            <a:ext cx="9095400" cy="4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HEURISTIC AND GREEDY ALGORITHMS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CHARACTERISTICS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Extremely fast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Local decision-making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Not always optimal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Predictable performance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6" name="Google Shape;406;p65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6"/>
          <p:cNvSpPr txBox="1"/>
          <p:nvPr/>
        </p:nvSpPr>
        <p:spPr>
          <a:xfrm>
            <a:off x="48525" y="279475"/>
            <a:ext cx="9095400" cy="3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HEURISTIC AND GREEDY ALGORITHMS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THE REAL WORLD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GPS navigation (fastest good route)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Task scheduling in operating systems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Network routing decisions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Load balancing systems</a:t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2" name="Google Shape;412;p66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 txBox="1"/>
          <p:nvPr/>
        </p:nvSpPr>
        <p:spPr>
          <a:xfrm>
            <a:off x="48525" y="279475"/>
            <a:ext cx="9095400" cy="43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HARD TRUTH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SYSTEMS MIX ALL OF THEM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</a:rPr>
              <a:t>Trade-offs are everywhere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Optimized algorithms at core</a:t>
            </a: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Heuristics for speed</a:t>
            </a:r>
            <a:endParaRPr sz="1800">
              <a:solidFill>
                <a:schemeClr val="lt1"/>
              </a:solidFill>
            </a:endParaRPr>
          </a:p>
          <a:p>
            <a:pPr indent="0" lvl="0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Simple algorithms at edges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8" name="Google Shape;418;p67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8"/>
          <p:cNvSpPr txBox="1"/>
          <p:nvPr/>
        </p:nvSpPr>
        <p:spPr>
          <a:xfrm>
            <a:off x="48525" y="279475"/>
            <a:ext cx="9095400" cy="6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NOT ALWAYS USE THE BEST ALGORITHM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ENGINEERING IS ABOUT COMPROMISES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Requirements change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Data grows unexpectedly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Deadlines exist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Simple code is easier to fix</a:t>
            </a:r>
            <a:endParaRPr b="1" sz="1800">
              <a:solidFill>
                <a:schemeClr val="lt1"/>
              </a:solidFill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4" name="Google Shape;424;p68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9"/>
          <p:cNvSpPr txBox="1"/>
          <p:nvPr/>
        </p:nvSpPr>
        <p:spPr>
          <a:xfrm>
            <a:off x="48525" y="279475"/>
            <a:ext cx="9095400" cy="5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EXPERIENCED DEVELOPERS KNOW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BEST ALGORITHM TODAY MAY FAIL TOMORROW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</a:rPr>
              <a:t>Over-optimization creates fragile systems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</a:rPr>
              <a:t>Flexibility often beats perfection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</a:rPr>
              <a:t>Choosing when to optimize matters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0" name="Google Shape;430;p69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0"/>
          <p:cNvSpPr txBox="1"/>
          <p:nvPr/>
        </p:nvSpPr>
        <p:spPr>
          <a:xfrm>
            <a:off x="48525" y="279475"/>
            <a:ext cx="9095400" cy="6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EFFICIENCY WITHOUT FORMULAS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INPUT GROWS AND COST EXPLODES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Small input → everything works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Medium input → slow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Large input → system failure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6" name="Google Shape;436;p70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1"/>
          <p:cNvSpPr txBox="1"/>
          <p:nvPr/>
        </p:nvSpPr>
        <p:spPr>
          <a:xfrm>
            <a:off x="48525" y="279475"/>
            <a:ext cx="9095400" cy="7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HARD TRUTH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ALGORITHMS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DON'T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FAIL - ASSUMPTIONS DO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Wrong assumptions about: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Input size</a:t>
            </a:r>
            <a:br>
              <a:rPr b="1" lang="en" sz="1800">
                <a:solidFill>
                  <a:schemeClr val="lt1"/>
                </a:solidFill>
              </a:rPr>
            </a:br>
            <a:r>
              <a:rPr b="1" lang="en" sz="1800">
                <a:solidFill>
                  <a:schemeClr val="lt1"/>
                </a:solidFill>
              </a:rPr>
              <a:t>Data distribution</a:t>
            </a:r>
            <a:br>
              <a:rPr b="1" lang="en" sz="1800">
                <a:solidFill>
                  <a:schemeClr val="lt1"/>
                </a:solidFill>
              </a:rPr>
            </a:br>
            <a:r>
              <a:rPr b="1" lang="en" sz="1800">
                <a:solidFill>
                  <a:schemeClr val="lt1"/>
                </a:solidFill>
              </a:rPr>
              <a:t>User behavior</a:t>
            </a:r>
            <a:br>
              <a:rPr b="1" lang="en" sz="1800">
                <a:solidFill>
                  <a:schemeClr val="lt1"/>
                </a:solidFill>
              </a:rPr>
            </a:br>
            <a:r>
              <a:rPr b="1" lang="en" sz="1800">
                <a:solidFill>
                  <a:schemeClr val="lt1"/>
                </a:solidFill>
              </a:rPr>
              <a:t>Lead to system collapse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2" name="Google Shape;442;p71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2"/>
          <p:cNvSpPr txBox="1"/>
          <p:nvPr/>
        </p:nvSpPr>
        <p:spPr>
          <a:xfrm>
            <a:off x="48525" y="279475"/>
            <a:ext cx="9095400" cy="75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MAIN ALGORITHMIC PARADIGMS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DIFFERENT PROBLEMS NEED DIFFERENT THINKING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Divide and Conquer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Greedy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Dynamic Programming</a:t>
            </a:r>
            <a:br>
              <a:rPr b="1" lang="en" sz="1800">
                <a:solidFill>
                  <a:schemeClr val="lt1"/>
                </a:solidFill>
              </a:rPr>
            </a:b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Graph-based algorithms</a:t>
            </a:r>
            <a:endParaRPr b="1"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8" name="Google Shape;448;p72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3"/>
          <p:cNvSpPr txBox="1"/>
          <p:nvPr/>
        </p:nvSpPr>
        <p:spPr>
          <a:xfrm>
            <a:off x="48525" y="279475"/>
            <a:ext cx="9095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COMING SOON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GROWTH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PREDICTION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LIMITS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TRADE-OFFS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4" name="Google Shape;454;p73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